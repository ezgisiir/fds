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3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6" r:id="rId11"/>
    <p:sldId id="267" r:id="rId12"/>
    <p:sldId id="270" r:id="rId13"/>
    <p:sldId id="271" r:id="rId14"/>
    <p:sldId id="272" r:id="rId15"/>
    <p:sldId id="273" r:id="rId16"/>
    <p:sldId id="274" r:id="rId17"/>
    <p:sldId id="275" r:id="rId18"/>
    <p:sldId id="276" r:id="rId19"/>
    <p:sldId id="277" r:id="rId20"/>
    <p:sldId id="278" r:id="rId21"/>
    <p:sldId id="279" r:id="rId22"/>
    <p:sldId id="280" r:id="rId23"/>
    <p:sldId id="281" r:id="rId24"/>
    <p:sldId id="282" r:id="rId25"/>
    <p:sldId id="283" r:id="rId26"/>
    <p:sldId id="284" r:id="rId27"/>
    <p:sldId id="285" r:id="rId28"/>
    <p:sldId id="287" r:id="rId29"/>
    <p:sldId id="288" r:id="rId30"/>
    <p:sldId id="289" r:id="rId31"/>
    <p:sldId id="290" r:id="rId32"/>
    <p:sldId id="303" r:id="rId33"/>
    <p:sldId id="304" r:id="rId34"/>
    <p:sldId id="305" r:id="rId35"/>
    <p:sldId id="306" r:id="rId36"/>
    <p:sldId id="307" r:id="rId37"/>
    <p:sldId id="308" r:id="rId38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A248766-A04C-4EB6-AE81-81BDD2FAE736}">
  <a:tblStyle styleId="{0A248766-A04C-4EB6-AE81-81BDD2FAE73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137"/>
    <p:restoredTop sz="61614" autoAdjust="0"/>
  </p:normalViewPr>
  <p:slideViewPr>
    <p:cSldViewPr snapToGrid="0">
      <p:cViewPr varScale="1">
        <p:scale>
          <a:sx n="92" d="100"/>
          <a:sy n="92" d="100"/>
        </p:scale>
        <p:origin x="2184" y="6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88ce27f723_0_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88ce27f723_0_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8a4d60b0ab_0_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8a4d60b0ab_0_9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8a4d60b0ab_0_1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8a4d60b0ab_0_1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88ce27f723_0_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88ce27f723_0_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. Preprocessing techniques include sampling, normalization, discretization, and feature selection. The main goal is to prepare the data for modeling effectively.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r>
              <a:rPr lang="en-US" dirty="0"/>
              <a:t>This image shows a dataset with five columns and ten rows, representing different observations regarding tax-related information and a binary classification outcome of whether a person cheats on taxes.</a:t>
            </a:r>
          </a:p>
          <a:p>
            <a:r>
              <a:rPr lang="en-US" dirty="0"/>
              <a:t>Here's an explanation of each column:</a:t>
            </a:r>
          </a:p>
          <a:p>
            <a:pPr>
              <a:buFont typeface="+mj-lt"/>
              <a:buAutoNum type="arabicPeriod"/>
            </a:pPr>
            <a:r>
              <a:rPr lang="en-US" b="1" dirty="0" err="1"/>
              <a:t>Tid</a:t>
            </a:r>
            <a:r>
              <a:rPr lang="en-US" dirty="0"/>
              <a:t>: This is a unique identifier for each record (or observation). It simply indexes each row from 1 to 10.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Refund</a:t>
            </a:r>
            <a:r>
              <a:rPr lang="en-US" dirty="0"/>
              <a:t>: Indicates whether the person received a tax refund for the given year. This is a binary variable with values "Yes" or "No."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Marital Status</a:t>
            </a:r>
            <a:r>
              <a:rPr lang="en-US" dirty="0"/>
              <a:t>: The marital status of the person. Possible values are "Single," "Married," and "Divorced."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Taxable Income</a:t>
            </a:r>
            <a:r>
              <a:rPr lang="en-US" dirty="0"/>
              <a:t>: The taxable income of the person, given in thousands (K). For example, "125K" means the person has a taxable income of $125,000.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Cheat</a:t>
            </a:r>
            <a:r>
              <a:rPr lang="en-US" dirty="0"/>
              <a:t>: This is the target variable, showing whether the person cheats on taxes. It is a binary outcome, with "Yes" meaning the person cheats and "No" meaning they do not cheat.</a:t>
            </a:r>
          </a:p>
          <a:p>
            <a:r>
              <a:rPr lang="en-US" b="1" dirty="0"/>
              <a:t>Example of data interpretation: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 </a:t>
            </a:r>
            <a:r>
              <a:rPr lang="en-US" b="1" dirty="0" err="1"/>
              <a:t>Tid</a:t>
            </a:r>
            <a:r>
              <a:rPr lang="en-US" b="1" dirty="0"/>
              <a:t> 1</a:t>
            </a:r>
            <a:r>
              <a:rPr lang="en-US" dirty="0"/>
              <a:t>, the person received a refund, is single, has a taxable income of $125K, and does not cheat on taxes.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 </a:t>
            </a:r>
            <a:r>
              <a:rPr lang="en-US" b="1" dirty="0" err="1"/>
              <a:t>Tid</a:t>
            </a:r>
            <a:r>
              <a:rPr lang="en-US" b="1" dirty="0"/>
              <a:t> 7</a:t>
            </a:r>
            <a:r>
              <a:rPr lang="en-US" dirty="0"/>
              <a:t>, the person did not receive a refund, is divorced, has a taxable income of $220K, and cheats on taxes.</a:t>
            </a:r>
          </a:p>
          <a:p>
            <a:r>
              <a:rPr lang="en-US" dirty="0"/>
              <a:t>This dataset could be used to train a machine learning model to predict whether someone cheats on taxes based on their marital status, taxable income, and whether they received a refund. It could also be useful in decision tree models to assess the impact of these factors on the likelihood of tax fraud.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8a4d60b0ab_0_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8a4d60b0ab_0_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8a4d60b0ab_0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8a4d60b0ab_0_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/>
              <a:t>Sampling:</a:t>
            </a:r>
            <a:r>
              <a:rPr lang="en-US" dirty="0"/>
              <a:t> Reducing the data size for better performance</a:t>
            </a:r>
            <a:endParaRPr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8a4d60b0ab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8a4d60b0ab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/>
              <a:t>Random Sampling:</a:t>
            </a:r>
            <a:r>
              <a:rPr lang="en-US" dirty="0"/>
              <a:t> Selection with or without </a:t>
            </a:r>
            <a:r>
              <a:rPr lang="en-US" dirty="0" err="1"/>
              <a:t>replacement.</a:t>
            </a:r>
            <a:r>
              <a:rPr lang="en-US" b="1" dirty="0" err="1"/>
              <a:t>Stratified</a:t>
            </a:r>
            <a:r>
              <a:rPr lang="en-US" b="1" dirty="0"/>
              <a:t> Sampling:</a:t>
            </a:r>
            <a:r>
              <a:rPr lang="en-US" dirty="0"/>
              <a:t> Ensures that the sampled data reflects the same distribution of classes in the original dataset, preventing important categories from being left out.</a:t>
            </a:r>
            <a:endParaRPr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8a4d60b0ab_0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8a4d60b0ab_0_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9e41fe9928_13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9e41fe9928_13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This image illustrates </a:t>
            </a:r>
            <a:r>
              <a:rPr lang="en-US" b="1" dirty="0"/>
              <a:t>Stratified Sampling</a:t>
            </a:r>
            <a:r>
              <a:rPr lang="en-US" dirty="0"/>
              <a:t>, a technique in statistics and data science used to ensure that subgroups (strata) of a population are proportionally represented in a sample. Stratified sampling divides the population into distinct categories or strata, then selects a sample from each stratum based on its proportion in the total population.</a:t>
            </a:r>
          </a:p>
          <a:p>
            <a:r>
              <a:rPr lang="en-US" b="1" dirty="0"/>
              <a:t>Explanation: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Population</a:t>
            </a:r>
            <a:r>
              <a:rPr lang="en-US" dirty="0"/>
              <a:t>: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At the bottom of the image, you see the population divided into three groups (or strata), represented by circles with different shading:</a:t>
            </a:r>
          </a:p>
          <a:p>
            <a:pPr marL="1143000" lvl="2" indent="-228600">
              <a:buFont typeface="+mj-lt"/>
              <a:buAutoNum type="arabicPeriod"/>
            </a:pPr>
            <a:r>
              <a:rPr lang="en-US" dirty="0"/>
              <a:t>Light-shaded (1, 10, 12)</a:t>
            </a:r>
          </a:p>
          <a:p>
            <a:pPr marL="1143000" lvl="2" indent="-228600">
              <a:buFont typeface="+mj-lt"/>
              <a:buAutoNum type="arabicPeriod"/>
            </a:pPr>
            <a:r>
              <a:rPr lang="en-US" dirty="0"/>
              <a:t>Dark-shaded (2, 4, 6, 7, 8, 11)</a:t>
            </a:r>
          </a:p>
          <a:p>
            <a:pPr marL="1143000" lvl="2" indent="-228600">
              <a:buFont typeface="+mj-lt"/>
              <a:buAutoNum type="arabicPeriod"/>
            </a:pPr>
            <a:r>
              <a:rPr lang="en-US" dirty="0"/>
              <a:t>Grey-shaded (3, 5, 9)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Stratified Sampling</a:t>
            </a:r>
            <a:r>
              <a:rPr lang="en-US" dirty="0"/>
              <a:t>: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The process ensures that the sample maintains the same ratio of individuals from each group as in the population. In this example, the </a:t>
            </a:r>
            <a:r>
              <a:rPr lang="en-US" b="1" dirty="0"/>
              <a:t>1:2:1 ratio</a:t>
            </a:r>
            <a:r>
              <a:rPr lang="en-US" dirty="0"/>
              <a:t> is used, meaning the sample will include 1 individual from the first group, 2 from the second group, and 1 from the third group.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For each stratum, individuals are selected:</a:t>
            </a:r>
          </a:p>
          <a:p>
            <a:pPr marL="1143000" lvl="2" indent="-228600">
              <a:buFont typeface="+mj-lt"/>
              <a:buAutoNum type="arabicPeriod"/>
            </a:pPr>
            <a:r>
              <a:rPr lang="en-US" dirty="0"/>
              <a:t>From the first stratum (light-shaded), individuals 10 and 12 are part of the sample, but only 10 is chosen to maintain the ratio.</a:t>
            </a:r>
          </a:p>
          <a:p>
            <a:pPr marL="1143000" lvl="2" indent="-228600">
              <a:buFont typeface="+mj-lt"/>
              <a:buAutoNum type="arabicPeriod"/>
            </a:pPr>
            <a:r>
              <a:rPr lang="en-US" dirty="0"/>
              <a:t>From the second stratum (dark-shaded), individuals 2, 4, 6, 8, 11 are available, and 2 and 8 are selected.</a:t>
            </a:r>
          </a:p>
          <a:p>
            <a:pPr marL="1143000" lvl="2" indent="-228600">
              <a:buFont typeface="+mj-lt"/>
              <a:buAutoNum type="arabicPeriod"/>
            </a:pPr>
            <a:r>
              <a:rPr lang="en-US" dirty="0"/>
              <a:t>From the third stratum (grey-shaded), individuals 3, 5, and 9 are present, and 5 is selected.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Sample</a:t>
            </a:r>
            <a:r>
              <a:rPr lang="en-US" dirty="0"/>
              <a:t>: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After stratified sampling is applied, the final sample consists of individuals 2, 10, 8, and 5. These individuals are selected in proportion to their representation in the population, maintaining the 1:2:1 ratio.</a:t>
            </a:r>
          </a:p>
          <a:p>
            <a:r>
              <a:rPr lang="en-US" b="1" dirty="0"/>
              <a:t>Key Points: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Stratified Sampling</a:t>
            </a:r>
            <a:r>
              <a:rPr lang="en-US" dirty="0"/>
              <a:t> is especially useful when the population has distinct subgroups, and it ensures that each subgroup is appropriately represented in the sample.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This technique is often used in surveys and experiments where it's crucial to avoid underrepresenting any segment of the population.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 </a:t>
            </a:r>
            <a:r>
              <a:rPr lang="en-US" b="1" dirty="0"/>
              <a:t>1:2:1 ratio</a:t>
            </a:r>
            <a:r>
              <a:rPr lang="en-US" dirty="0"/>
              <a:t> means that if, for example, there are four samples, one will be from the light-shaded group, two from the dark-shaded group, and one from the grey-shaded group.</a:t>
            </a:r>
          </a:p>
          <a:p>
            <a:r>
              <a:rPr lang="en-US" dirty="0"/>
              <a:t>This method increases the accuracy of the sample by reflecting the population structure, reducing sampling bias, and ensuring more reliable results.</a:t>
            </a:r>
          </a:p>
          <a:p>
            <a:r>
              <a:rPr lang="en-US" dirty="0"/>
              <a:t>4o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8a4d60b0ab_0_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8a4d60b0ab_0_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8a4d60b0ab_0_1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8a4d60b0ab_0_1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8a4d60b0ab_0_1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8a4d60b0ab_0_1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8a4d60b0ab_0_1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8a4d60b0ab_0_1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8a4d60b0ab_0_1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8a4d60b0ab_0_1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8a4d60b0ab_0_1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8a4d60b0ab_0_1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8a4d60b0ab_0_1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8a4d60b0ab_0_1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8a4d60b0ab_0_1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" name="Google Shape;230;g8a4d60b0ab_0_1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8a4d60b0ab_0_1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" name="Google Shape;236;g8a4d60b0ab_0_1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8a4d60b0ab_0_1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" name="Google Shape;242;g8a4d60b0ab_0_1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8a4d60b0ab_0_1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" name="Google Shape;248;g8a4d60b0ab_0_1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8a4d60b0ab_0_1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5" name="Google Shape;255;g8a4d60b0ab_0_1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8a4d60b0ab_0_1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2" name="Google Shape;262;g8a4d60b0ab_0_1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c69f79ac58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" name="Google Shape;269;gc69f79ac58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8a4d60b0ab_0_1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8a4d60b0ab_0_1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/>
              <a:t>Min-Max Scaling:</a:t>
            </a:r>
            <a:r>
              <a:rPr lang="en-US" dirty="0"/>
              <a:t> Transforms features to a specific range (e.g., 0 to 1).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/>
              <a:t>Standard Score (Z-score):</a:t>
            </a:r>
            <a:r>
              <a:rPr lang="en-US" dirty="0"/>
              <a:t> Centers features around the mean with unit variance.</a:t>
            </a:r>
            <a:endParaRPr dirty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8a4d60b0ab_0_2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3" name="Google Shape;283;g8a4d60b0ab_0_2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/>
              <a:t>L1 and L2 Normalization:</a:t>
            </a:r>
            <a:r>
              <a:rPr lang="en-US" dirty="0"/>
              <a:t> Normalizes the feature vector by its L1 or L2 norm.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7584237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b173e116ee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4" name="Google Shape;294;gb173e116ee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9627679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b173e116ee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1" name="Google Shape;321;gb173e116ee_0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0987936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8a4d60b0ab_0_2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6" name="Google Shape;336;g8a4d60b0ab_0_2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8a4d60b0ab_0_2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3" name="Google Shape;343;g8a4d60b0ab_0_2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8a4d60b0ab_0_2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0" name="Google Shape;350;g8a4d60b0ab_0_2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Reducing dimensionality helps avoid the curse of dimensionality, where high-dimensional spaces make data sparse and difficult to model. Techniques like PCA are used to reduce the feature space while retaining key information.</a:t>
            </a:r>
            <a:endParaRPr dirty="0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g8a4d60b0ab_0_2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8" name="Google Shape;468;g8a4d60b0ab_0_2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g8a4d60b0ab_0_2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5" name="Google Shape;475;g8a4d60b0ab_0_2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/>
              <a:t>Feature Selection:</a:t>
            </a:r>
            <a:r>
              <a:rPr lang="en-US" dirty="0"/>
              <a:t> Identifying and retaining only the most informative features, removing redundant or irrelevant ones.</a:t>
            </a:r>
            <a:endParaRPr dirty="0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g8a4d60b0ab_0_2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1" name="Google Shape;481;g8a4d60b0ab_0_2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g8a4d60b0ab_0_2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8" name="Google Shape;488;g8a4d60b0ab_0_2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/>
              <a:t>Feature Creation:</a:t>
            </a:r>
            <a:r>
              <a:rPr lang="en-US" dirty="0"/>
              <a:t> Generating new features that better represent the data's underlying structure, such as calculating new metrics or applying transformations like the Fourier transform.</a:t>
            </a:r>
            <a:endParaRPr dirty="0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g8a4d60b0ab_0_2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4" name="Google Shape;494;g8a4d60b0ab_0_2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This slide explains the </a:t>
            </a:r>
            <a:r>
              <a:rPr lang="en-US" b="1" dirty="0"/>
              <a:t>Fourier Transform</a:t>
            </a:r>
            <a:r>
              <a:rPr lang="en-US" dirty="0"/>
              <a:t>, a method used to convert a signal from the time domain to the frequency domain.</a:t>
            </a:r>
          </a:p>
          <a:p>
            <a:r>
              <a:rPr lang="en-US" b="1" dirty="0"/>
              <a:t>Left Graph (Time Domain):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 signal consists of </a:t>
            </a:r>
            <a:r>
              <a:rPr lang="en-US" b="1" dirty="0"/>
              <a:t>two sine waves</a:t>
            </a:r>
            <a:r>
              <a:rPr lang="en-US" dirty="0"/>
              <a:t> mixed with </a:t>
            </a:r>
            <a:r>
              <a:rPr lang="en-US" b="1" dirty="0"/>
              <a:t>noise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 graph shows how the signal changes over time, but it’s hard to see the individual frequencies.</a:t>
            </a:r>
          </a:p>
          <a:p>
            <a:r>
              <a:rPr lang="en-US" b="1" dirty="0"/>
              <a:t>Right Graph (Frequency Domain):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After applying the </a:t>
            </a:r>
            <a:r>
              <a:rPr lang="en-US" b="1" dirty="0"/>
              <a:t>Fourier Transform</a:t>
            </a:r>
            <a:r>
              <a:rPr lang="en-US" dirty="0"/>
              <a:t>, we can see the </a:t>
            </a:r>
            <a:r>
              <a:rPr lang="en-US" b="1" dirty="0"/>
              <a:t>frequencies</a:t>
            </a:r>
            <a:r>
              <a:rPr lang="en-US" dirty="0"/>
              <a:t> that make up the signal.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 </a:t>
            </a:r>
            <a:r>
              <a:rPr lang="en-US" b="1" dirty="0"/>
              <a:t>peaks</a:t>
            </a:r>
            <a:r>
              <a:rPr lang="en-US" dirty="0"/>
              <a:t> in the graph represent the main frequencies (around 10 and 20 Hz), which are the two sine waves.</a:t>
            </a:r>
          </a:p>
          <a:p>
            <a:r>
              <a:rPr lang="en-US" dirty="0"/>
              <a:t>In summary, the Fourier Transform helps us break down a complex, noisy signal into its individual frequency components.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g8a7051dc4b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0" name="Google Shape;500;g8a7051dc4b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verview">
  <p:cSld name="Overview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Google Shape;12;p2"/>
          <p:cNvCxnSpPr/>
          <p:nvPr/>
        </p:nvCxnSpPr>
        <p:spPr>
          <a:xfrm>
            <a:off x="204064" y="384370"/>
            <a:ext cx="2006100" cy="0"/>
          </a:xfrm>
          <a:prstGeom prst="straightConnector1">
            <a:avLst/>
          </a:prstGeom>
          <a:noFill/>
          <a:ln w="25400" cap="flat" cmpd="sng">
            <a:solidFill>
              <a:srgbClr val="E4610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" name="Google Shape;13;p2"/>
          <p:cNvCxnSpPr/>
          <p:nvPr/>
        </p:nvCxnSpPr>
        <p:spPr>
          <a:xfrm>
            <a:off x="2532476" y="384370"/>
            <a:ext cx="6364200" cy="0"/>
          </a:xfrm>
          <a:prstGeom prst="straightConnector1">
            <a:avLst/>
          </a:prstGeom>
          <a:noFill/>
          <a:ln w="12700" cap="flat" cmpd="sng">
            <a:solidFill>
              <a:srgbClr val="E4610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4" name="Google Shape;14;p2"/>
          <p:cNvSpPr txBox="1">
            <a:spLocks noGrp="1"/>
          </p:cNvSpPr>
          <p:nvPr>
            <p:ph type="body" idx="1"/>
          </p:nvPr>
        </p:nvSpPr>
        <p:spPr>
          <a:xfrm>
            <a:off x="204065" y="740368"/>
            <a:ext cx="2705700" cy="339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E46102"/>
              </a:buClr>
              <a:buSzPts val="3200"/>
              <a:buFont typeface="Arial"/>
              <a:buNone/>
              <a:defRPr sz="3200" b="1" i="0" u="none" strike="noStrike" cap="none">
                <a:solidFill>
                  <a:srgbClr val="E4610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0640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81000" algn="l" rtl="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body" idx="2"/>
          </p:nvPr>
        </p:nvSpPr>
        <p:spPr>
          <a:xfrm>
            <a:off x="3252528" y="1305759"/>
            <a:ext cx="5643900" cy="46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0640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81000" algn="l" rtl="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body" idx="3"/>
          </p:nvPr>
        </p:nvSpPr>
        <p:spPr>
          <a:xfrm>
            <a:off x="3246526" y="1920619"/>
            <a:ext cx="5649900" cy="221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355600" algn="l" rtl="0">
              <a:spcBef>
                <a:spcPts val="400"/>
              </a:spcBef>
              <a:spcAft>
                <a:spcPts val="0"/>
              </a:spcAft>
              <a:buClr>
                <a:srgbClr val="E46102"/>
              </a:buClr>
              <a:buSzPts val="20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spcBef>
                <a:spcPts val="400"/>
              </a:spcBef>
              <a:spcAft>
                <a:spcPts val="0"/>
              </a:spcAft>
              <a:buClr>
                <a:srgbClr val="E46102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30200" algn="l" rtl="0">
              <a:spcBef>
                <a:spcPts val="300"/>
              </a:spcBef>
              <a:spcAft>
                <a:spcPts val="0"/>
              </a:spcAft>
              <a:buClr>
                <a:srgbClr val="E46102"/>
              </a:buClr>
              <a:buSzPts val="1600"/>
              <a:buFont typeface="Noto Sans Symbols"/>
              <a:buChar char="▪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300"/>
              </a:spcBef>
              <a:spcAft>
                <a:spcPts val="0"/>
              </a:spcAft>
              <a:buClr>
                <a:srgbClr val="D95E00"/>
              </a:buClr>
              <a:buSzPts val="1400"/>
              <a:buFont typeface="NTR"/>
              <a:buChar char="&gt;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04800" algn="l" rtl="0">
              <a:spcBef>
                <a:spcPts val="200"/>
              </a:spcBef>
              <a:spcAft>
                <a:spcPts val="0"/>
              </a:spcAft>
              <a:buClr>
                <a:srgbClr val="D95E00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200"/>
              </a:spcBef>
              <a:spcAft>
                <a:spcPts val="0"/>
              </a:spcAft>
              <a:buClr>
                <a:srgbClr val="D95E00"/>
              </a:buClr>
              <a:buSzPts val="1100"/>
              <a:buFont typeface="NTR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200"/>
              </a:spcBef>
              <a:spcAft>
                <a:spcPts val="0"/>
              </a:spcAft>
              <a:buClr>
                <a:srgbClr val="D95E00"/>
              </a:buClr>
              <a:buSzPts val="1000"/>
              <a:buFont typeface="Noto Sans Symbols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body" idx="4"/>
          </p:nvPr>
        </p:nvSpPr>
        <p:spPr>
          <a:xfrm>
            <a:off x="0" y="4133850"/>
            <a:ext cx="9144000" cy="100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Arial"/>
              <a:buNone/>
              <a:defRPr sz="3200" b="0" i="1" u="none" strike="noStrike" cap="none">
                <a:solidFill>
                  <a:srgbClr val="FF0000"/>
                </a:solidFill>
                <a:latin typeface="MS Gothic"/>
                <a:ea typeface="MS Gothic"/>
                <a:cs typeface="MS Gothic"/>
                <a:sym typeface="MS Gothic"/>
              </a:defRPr>
            </a:lvl1pPr>
            <a:lvl2pPr marL="914400" marR="0" lvl="1" indent="-40640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81000" algn="l" rtl="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>
  <p:cSld name="Title Slide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68696C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478924" y="242751"/>
            <a:ext cx="629933" cy="830723"/>
          </a:xfrm>
          <a:custGeom>
            <a:avLst/>
            <a:gdLst/>
            <a:ahLst/>
            <a:cxnLst/>
            <a:rect l="l" t="t" r="r" b="b"/>
            <a:pathLst>
              <a:path w="839910" h="1107631" extrusionOk="0">
                <a:moveTo>
                  <a:pt x="0" y="0"/>
                </a:moveTo>
                <a:lnTo>
                  <a:pt x="0" y="396333"/>
                </a:lnTo>
                <a:lnTo>
                  <a:pt x="374285" y="550141"/>
                </a:lnTo>
                <a:lnTo>
                  <a:pt x="374285" y="554341"/>
                </a:lnTo>
                <a:lnTo>
                  <a:pt x="0" y="733347"/>
                </a:lnTo>
                <a:lnTo>
                  <a:pt x="0" y="1112881"/>
                </a:lnTo>
                <a:lnTo>
                  <a:pt x="841485" y="746470"/>
                </a:lnTo>
                <a:lnTo>
                  <a:pt x="841485" y="365886"/>
                </a:lnTo>
                <a:close/>
              </a:path>
            </a:pathLst>
          </a:custGeom>
          <a:solidFill>
            <a:srgbClr val="F7690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-98380" y="2367271"/>
            <a:ext cx="1461356" cy="1927164"/>
          </a:xfrm>
          <a:custGeom>
            <a:avLst/>
            <a:gdLst/>
            <a:ahLst/>
            <a:cxnLst/>
            <a:rect l="l" t="t" r="r" b="b"/>
            <a:pathLst>
              <a:path w="1948475" h="2569552" extrusionOk="0">
                <a:moveTo>
                  <a:pt x="0" y="0"/>
                </a:moveTo>
                <a:lnTo>
                  <a:pt x="0" y="919437"/>
                </a:lnTo>
                <a:lnTo>
                  <a:pt x="868289" y="1276252"/>
                </a:lnTo>
                <a:lnTo>
                  <a:pt x="868289" y="1285994"/>
                </a:lnTo>
                <a:lnTo>
                  <a:pt x="0" y="1701263"/>
                </a:lnTo>
                <a:lnTo>
                  <a:pt x="0" y="2581730"/>
                </a:lnTo>
                <a:lnTo>
                  <a:pt x="1952129" y="1731708"/>
                </a:lnTo>
                <a:lnTo>
                  <a:pt x="1952129" y="848805"/>
                </a:lnTo>
                <a:close/>
              </a:path>
            </a:pathLst>
          </a:custGeom>
          <a:solidFill>
            <a:srgbClr val="F7690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5491618" y="2943127"/>
            <a:ext cx="349089" cy="460361"/>
          </a:xfrm>
          <a:custGeom>
            <a:avLst/>
            <a:gdLst/>
            <a:ahLst/>
            <a:cxnLst/>
            <a:rect l="l" t="t" r="r" b="b"/>
            <a:pathLst>
              <a:path w="465452" h="613815" extrusionOk="0">
                <a:moveTo>
                  <a:pt x="0" y="0"/>
                </a:moveTo>
                <a:lnTo>
                  <a:pt x="0" y="219635"/>
                </a:lnTo>
                <a:lnTo>
                  <a:pt x="207417" y="304871"/>
                </a:lnTo>
                <a:lnTo>
                  <a:pt x="207417" y="307199"/>
                </a:lnTo>
                <a:lnTo>
                  <a:pt x="0" y="406398"/>
                </a:lnTo>
                <a:lnTo>
                  <a:pt x="0" y="616725"/>
                </a:lnTo>
                <a:lnTo>
                  <a:pt x="466325" y="413671"/>
                </a:lnTo>
                <a:lnTo>
                  <a:pt x="466325" y="202763"/>
                </a:lnTo>
                <a:close/>
              </a:path>
            </a:pathLst>
          </a:custGeom>
          <a:solidFill>
            <a:srgbClr val="F7690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3"/>
          <p:cNvSpPr/>
          <p:nvPr/>
        </p:nvSpPr>
        <p:spPr>
          <a:xfrm>
            <a:off x="8154471" y="3418610"/>
            <a:ext cx="629932" cy="830723"/>
          </a:xfrm>
          <a:custGeom>
            <a:avLst/>
            <a:gdLst/>
            <a:ahLst/>
            <a:cxnLst/>
            <a:rect l="l" t="t" r="r" b="b"/>
            <a:pathLst>
              <a:path w="839910" h="1107631" extrusionOk="0">
                <a:moveTo>
                  <a:pt x="0" y="0"/>
                </a:moveTo>
                <a:lnTo>
                  <a:pt x="0" y="396333"/>
                </a:lnTo>
                <a:lnTo>
                  <a:pt x="374285" y="550141"/>
                </a:lnTo>
                <a:lnTo>
                  <a:pt x="374285" y="554341"/>
                </a:lnTo>
                <a:lnTo>
                  <a:pt x="0" y="733347"/>
                </a:lnTo>
                <a:lnTo>
                  <a:pt x="0" y="1112881"/>
                </a:lnTo>
                <a:lnTo>
                  <a:pt x="841485" y="746470"/>
                </a:lnTo>
                <a:lnTo>
                  <a:pt x="841485" y="365886"/>
                </a:lnTo>
                <a:close/>
              </a:path>
            </a:pathLst>
          </a:custGeom>
          <a:solidFill>
            <a:srgbClr val="F7690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3"/>
          <p:cNvSpPr/>
          <p:nvPr/>
        </p:nvSpPr>
        <p:spPr>
          <a:xfrm>
            <a:off x="7291797" y="308983"/>
            <a:ext cx="1859454" cy="2452155"/>
          </a:xfrm>
          <a:custGeom>
            <a:avLst/>
            <a:gdLst/>
            <a:ahLst/>
            <a:cxnLst/>
            <a:rect l="l" t="t" r="r" b="b"/>
            <a:pathLst>
              <a:path w="2479272" h="3269540" extrusionOk="0">
                <a:moveTo>
                  <a:pt x="0" y="0"/>
                </a:moveTo>
                <a:lnTo>
                  <a:pt x="0" y="1169907"/>
                </a:lnTo>
                <a:lnTo>
                  <a:pt x="1104826" y="1623924"/>
                </a:lnTo>
                <a:lnTo>
                  <a:pt x="1104826" y="1636320"/>
                </a:lnTo>
                <a:lnTo>
                  <a:pt x="0" y="2164715"/>
                </a:lnTo>
                <a:lnTo>
                  <a:pt x="0" y="3285036"/>
                </a:lnTo>
                <a:lnTo>
                  <a:pt x="2483921" y="2203454"/>
                </a:lnTo>
                <a:lnTo>
                  <a:pt x="2483921" y="1080033"/>
                </a:lnTo>
                <a:close/>
              </a:path>
            </a:pathLst>
          </a:custGeom>
          <a:solidFill>
            <a:srgbClr val="F7690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" name="Google Shape;25;p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366872" y="93473"/>
            <a:ext cx="521208" cy="162944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Google Shape;26;p3"/>
          <p:cNvSpPr/>
          <p:nvPr/>
        </p:nvSpPr>
        <p:spPr>
          <a:xfrm>
            <a:off x="1143" y="7060"/>
            <a:ext cx="9141600" cy="377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" name="Google Shape;27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512420" y="80399"/>
            <a:ext cx="492553" cy="246277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3"/>
          <p:cNvSpPr txBox="1">
            <a:spLocks noGrp="1"/>
          </p:cNvSpPr>
          <p:nvPr>
            <p:ph type="body" idx="1"/>
          </p:nvPr>
        </p:nvSpPr>
        <p:spPr>
          <a:xfrm>
            <a:off x="2008148" y="3287404"/>
            <a:ext cx="5793000" cy="3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0640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81000" algn="l" rtl="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9" name="Google Shape;29;p3"/>
          <p:cNvSpPr txBox="1">
            <a:spLocks noGrp="1"/>
          </p:cNvSpPr>
          <p:nvPr>
            <p:ph type="body" idx="2"/>
          </p:nvPr>
        </p:nvSpPr>
        <p:spPr>
          <a:xfrm>
            <a:off x="2008148" y="3670551"/>
            <a:ext cx="5793000" cy="40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0640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81000" algn="l" rtl="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0" name="Google Shape;30;p3"/>
          <p:cNvSpPr txBox="1">
            <a:spLocks noGrp="1"/>
          </p:cNvSpPr>
          <p:nvPr>
            <p:ph type="body" idx="3"/>
          </p:nvPr>
        </p:nvSpPr>
        <p:spPr>
          <a:xfrm>
            <a:off x="0" y="4149565"/>
            <a:ext cx="9144000" cy="100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Arial"/>
              <a:buNone/>
              <a:defRPr sz="3200" b="0" i="1" u="none" strike="noStrike" cap="none">
                <a:solidFill>
                  <a:srgbClr val="FF0000"/>
                </a:solidFill>
                <a:latin typeface="MS Gothic"/>
                <a:ea typeface="MS Gothic"/>
                <a:cs typeface="MS Gothic"/>
                <a:sym typeface="MS Gothic"/>
              </a:defRPr>
            </a:lvl1pPr>
            <a:lvl2pPr marL="914400" marR="0" lvl="1" indent="-40640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81000" algn="l" rtl="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1" name="Google Shape;31;p3"/>
          <p:cNvSpPr txBox="1">
            <a:spLocks noGrp="1"/>
          </p:cNvSpPr>
          <p:nvPr>
            <p:ph type="body" idx="4"/>
          </p:nvPr>
        </p:nvSpPr>
        <p:spPr>
          <a:xfrm>
            <a:off x="754540" y="956788"/>
            <a:ext cx="7613700" cy="23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  <a:defRPr sz="5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0640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81000" algn="l" rtl="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" name="Google Shape;33;p4"/>
          <p:cNvCxnSpPr/>
          <p:nvPr/>
        </p:nvCxnSpPr>
        <p:spPr>
          <a:xfrm>
            <a:off x="204064" y="384819"/>
            <a:ext cx="2006100" cy="0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4" name="Google Shape;34;p4"/>
          <p:cNvCxnSpPr/>
          <p:nvPr/>
        </p:nvCxnSpPr>
        <p:spPr>
          <a:xfrm>
            <a:off x="2532476" y="384819"/>
            <a:ext cx="6364200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5" name="Google Shape;35;p4"/>
          <p:cNvSpPr txBox="1">
            <a:spLocks noGrp="1"/>
          </p:cNvSpPr>
          <p:nvPr>
            <p:ph type="body" idx="1"/>
          </p:nvPr>
        </p:nvSpPr>
        <p:spPr>
          <a:xfrm>
            <a:off x="0" y="4133851"/>
            <a:ext cx="9144000" cy="105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Arial"/>
              <a:buNone/>
              <a:defRPr sz="3200" b="0" i="1" u="none" strike="noStrike" cap="none">
                <a:solidFill>
                  <a:srgbClr val="FF0000"/>
                </a:solidFill>
                <a:latin typeface="MS Gothic"/>
                <a:ea typeface="MS Gothic"/>
                <a:cs typeface="MS Gothic"/>
                <a:sym typeface="MS Gothic"/>
              </a:defRPr>
            </a:lvl1pPr>
            <a:lvl2pPr marL="914400" marR="0" lvl="1" indent="-40640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81000" algn="l" rtl="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6" name="Google Shape;36;p4"/>
          <p:cNvSpPr txBox="1">
            <a:spLocks noGrp="1"/>
          </p:cNvSpPr>
          <p:nvPr>
            <p:ph type="body" idx="2"/>
          </p:nvPr>
        </p:nvSpPr>
        <p:spPr>
          <a:xfrm>
            <a:off x="204064" y="718839"/>
            <a:ext cx="8692500" cy="5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spcBef>
                <a:spcPts val="600"/>
              </a:spcBef>
              <a:spcAft>
                <a:spcPts val="0"/>
              </a:spcAft>
              <a:buClr>
                <a:srgbClr val="E46102"/>
              </a:buClr>
              <a:buSzPts val="2800"/>
              <a:buFont typeface="Arial"/>
              <a:buNone/>
              <a:defRPr sz="2800" b="1" i="0" u="none" strike="noStrike" cap="none">
                <a:solidFill>
                  <a:srgbClr val="E4610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0640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81000" algn="l" rtl="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7" name="Google Shape;37;p4"/>
          <p:cNvSpPr txBox="1">
            <a:spLocks noGrp="1"/>
          </p:cNvSpPr>
          <p:nvPr>
            <p:ph type="body" idx="3"/>
          </p:nvPr>
        </p:nvSpPr>
        <p:spPr>
          <a:xfrm>
            <a:off x="204064" y="1308169"/>
            <a:ext cx="8692500" cy="28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381000" algn="l" rtl="0">
              <a:spcBef>
                <a:spcPts val="500"/>
              </a:spcBef>
              <a:spcAft>
                <a:spcPts val="0"/>
              </a:spcAft>
              <a:buClr>
                <a:srgbClr val="E46102"/>
              </a:buClr>
              <a:buSzPts val="2400"/>
              <a:buFont typeface="Noto Sans Symbols"/>
              <a:buChar char="▪"/>
              <a:defRPr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rgbClr val="E46102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spcBef>
                <a:spcPts val="400"/>
              </a:spcBef>
              <a:spcAft>
                <a:spcPts val="0"/>
              </a:spcAft>
              <a:buClr>
                <a:srgbClr val="E46102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spcBef>
                <a:spcPts val="300"/>
              </a:spcBef>
              <a:spcAft>
                <a:spcPts val="0"/>
              </a:spcAft>
              <a:buClr>
                <a:srgbClr val="D95E00"/>
              </a:buClr>
              <a:buSzPts val="1600"/>
              <a:buFont typeface="NTR"/>
              <a:buChar char="&gt;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300"/>
              </a:spcBef>
              <a:spcAft>
                <a:spcPts val="0"/>
              </a:spcAft>
              <a:buClr>
                <a:srgbClr val="D95E00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spcBef>
                <a:spcPts val="200"/>
              </a:spcBef>
              <a:spcAft>
                <a:spcPts val="0"/>
              </a:spcAft>
              <a:buClr>
                <a:srgbClr val="D95E00"/>
              </a:buClr>
              <a:buSzPts val="1200"/>
              <a:buFont typeface="NTR"/>
              <a:buChar char="&gt;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2100" algn="l" rtl="0">
              <a:spcBef>
                <a:spcPts val="200"/>
              </a:spcBef>
              <a:spcAft>
                <a:spcPts val="0"/>
              </a:spcAft>
              <a:buClr>
                <a:srgbClr val="D95E00"/>
              </a:buClr>
              <a:buSzPts val="1000"/>
              <a:buFont typeface="Noto Sans Symbols"/>
              <a:buChar char="▪"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85750" algn="l" rtl="0">
              <a:spcBef>
                <a:spcPts val="200"/>
              </a:spcBef>
              <a:spcAft>
                <a:spcPts val="0"/>
              </a:spcAft>
              <a:buClr>
                <a:srgbClr val="D95E00"/>
              </a:buClr>
              <a:buSzPts val="900"/>
              <a:buFont typeface="NTR"/>
              <a:buChar char="&gt;"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ull-Page Content">
  <p:cSld name="Full-Page Conten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9" name="Google Shape;39;p5"/>
          <p:cNvCxnSpPr/>
          <p:nvPr/>
        </p:nvCxnSpPr>
        <p:spPr>
          <a:xfrm>
            <a:off x="204064" y="384819"/>
            <a:ext cx="2006100" cy="0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0" name="Google Shape;40;p5"/>
          <p:cNvCxnSpPr/>
          <p:nvPr/>
        </p:nvCxnSpPr>
        <p:spPr>
          <a:xfrm>
            <a:off x="2532476" y="384819"/>
            <a:ext cx="6364200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1" name="Google Shape;41;p5"/>
          <p:cNvSpPr txBox="1">
            <a:spLocks noGrp="1"/>
          </p:cNvSpPr>
          <p:nvPr>
            <p:ph type="body" idx="1"/>
          </p:nvPr>
        </p:nvSpPr>
        <p:spPr>
          <a:xfrm>
            <a:off x="0" y="4133851"/>
            <a:ext cx="9144000" cy="105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Arial"/>
              <a:buNone/>
              <a:defRPr sz="3200" b="0" i="1" u="none" strike="noStrike" cap="none">
                <a:solidFill>
                  <a:srgbClr val="FF0000"/>
                </a:solidFill>
                <a:latin typeface="MS Gothic"/>
                <a:ea typeface="MS Gothic"/>
                <a:cs typeface="MS Gothic"/>
                <a:sym typeface="MS Gothic"/>
              </a:defRPr>
            </a:lvl1pPr>
            <a:lvl2pPr marL="914400" marR="0" lvl="1" indent="-40640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81000" algn="l" rtl="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2" name="Google Shape;42;p5"/>
          <p:cNvSpPr txBox="1">
            <a:spLocks noGrp="1"/>
          </p:cNvSpPr>
          <p:nvPr>
            <p:ph type="body" idx="2"/>
          </p:nvPr>
        </p:nvSpPr>
        <p:spPr>
          <a:xfrm>
            <a:off x="204064" y="647571"/>
            <a:ext cx="8692500" cy="34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ctr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0640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81000" algn="l" rtl="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4" name="Google Shape;44;p6"/>
          <p:cNvCxnSpPr/>
          <p:nvPr/>
        </p:nvCxnSpPr>
        <p:spPr>
          <a:xfrm>
            <a:off x="204064" y="384819"/>
            <a:ext cx="2006100" cy="0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5" name="Google Shape;45;p6"/>
          <p:cNvCxnSpPr/>
          <p:nvPr/>
        </p:nvCxnSpPr>
        <p:spPr>
          <a:xfrm>
            <a:off x="2532476" y="384819"/>
            <a:ext cx="6364200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6" name="Google Shape;46;p6"/>
          <p:cNvSpPr txBox="1">
            <a:spLocks noGrp="1"/>
          </p:cNvSpPr>
          <p:nvPr>
            <p:ph type="body" idx="1"/>
          </p:nvPr>
        </p:nvSpPr>
        <p:spPr>
          <a:xfrm>
            <a:off x="0" y="4133851"/>
            <a:ext cx="9144000" cy="105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Arial"/>
              <a:buNone/>
              <a:defRPr sz="3200" b="0" i="1" u="none" strike="noStrike" cap="none">
                <a:solidFill>
                  <a:srgbClr val="FF0000"/>
                </a:solidFill>
                <a:latin typeface="MS Gothic"/>
                <a:ea typeface="MS Gothic"/>
                <a:cs typeface="MS Gothic"/>
                <a:sym typeface="MS Gothic"/>
              </a:defRPr>
            </a:lvl1pPr>
            <a:lvl2pPr marL="914400" marR="0" lvl="1" indent="-40640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81000" algn="l" rtl="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7" name="Google Shape;47;p6"/>
          <p:cNvSpPr txBox="1">
            <a:spLocks noGrp="1"/>
          </p:cNvSpPr>
          <p:nvPr>
            <p:ph type="body" idx="2"/>
          </p:nvPr>
        </p:nvSpPr>
        <p:spPr>
          <a:xfrm>
            <a:off x="4692650" y="647769"/>
            <a:ext cx="4203600" cy="347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ctr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0640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81000" algn="l" rtl="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8" name="Google Shape;48;p6"/>
          <p:cNvSpPr txBox="1">
            <a:spLocks noGrp="1"/>
          </p:cNvSpPr>
          <p:nvPr>
            <p:ph type="body" idx="3"/>
          </p:nvPr>
        </p:nvSpPr>
        <p:spPr>
          <a:xfrm>
            <a:off x="204064" y="647571"/>
            <a:ext cx="4209300" cy="34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ctr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0640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81000" algn="l" rtl="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>
  <p:cSld name="Content with Caption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0" name="Google Shape;50;p7"/>
          <p:cNvCxnSpPr/>
          <p:nvPr/>
        </p:nvCxnSpPr>
        <p:spPr>
          <a:xfrm>
            <a:off x="204064" y="384819"/>
            <a:ext cx="2006100" cy="0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1" name="Google Shape;51;p7"/>
          <p:cNvCxnSpPr/>
          <p:nvPr/>
        </p:nvCxnSpPr>
        <p:spPr>
          <a:xfrm>
            <a:off x="2532476" y="384819"/>
            <a:ext cx="6364200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2" name="Google Shape;52;p7"/>
          <p:cNvSpPr txBox="1">
            <a:spLocks noGrp="1"/>
          </p:cNvSpPr>
          <p:nvPr>
            <p:ph type="body" idx="1"/>
          </p:nvPr>
        </p:nvSpPr>
        <p:spPr>
          <a:xfrm>
            <a:off x="0" y="4133851"/>
            <a:ext cx="9144000" cy="105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Arial"/>
              <a:buNone/>
              <a:defRPr sz="3200" b="0" i="1" u="none" strike="noStrike" cap="none">
                <a:solidFill>
                  <a:srgbClr val="FF0000"/>
                </a:solidFill>
                <a:latin typeface="MS Gothic"/>
                <a:ea typeface="MS Gothic"/>
                <a:cs typeface="MS Gothic"/>
                <a:sym typeface="MS Gothic"/>
              </a:defRPr>
            </a:lvl1pPr>
            <a:lvl2pPr marL="914400" marR="0" lvl="1" indent="-40640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81000" algn="l" rtl="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body" idx="2"/>
          </p:nvPr>
        </p:nvSpPr>
        <p:spPr>
          <a:xfrm>
            <a:off x="198438" y="647007"/>
            <a:ext cx="2603400" cy="59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E46102"/>
              </a:buClr>
              <a:buSzPts val="3200"/>
              <a:buFont typeface="Arial"/>
              <a:buNone/>
              <a:defRPr sz="3200" b="1" i="0" u="none" strike="noStrike" cap="none">
                <a:solidFill>
                  <a:srgbClr val="E4610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0640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81000" algn="l" rtl="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4" name="Google Shape;54;p7"/>
          <p:cNvSpPr txBox="1">
            <a:spLocks noGrp="1"/>
          </p:cNvSpPr>
          <p:nvPr>
            <p:ph type="body" idx="3"/>
          </p:nvPr>
        </p:nvSpPr>
        <p:spPr>
          <a:xfrm>
            <a:off x="198438" y="1405005"/>
            <a:ext cx="2603400" cy="27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0640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81000" algn="l" rtl="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5" name="Google Shape;55;p7"/>
          <p:cNvSpPr txBox="1">
            <a:spLocks noGrp="1"/>
          </p:cNvSpPr>
          <p:nvPr>
            <p:ph type="body" idx="4"/>
          </p:nvPr>
        </p:nvSpPr>
        <p:spPr>
          <a:xfrm>
            <a:off x="3000376" y="647769"/>
            <a:ext cx="5895900" cy="347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ctr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0640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81000" algn="l" rtl="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ransition">
  <p:cSld name="Transition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7" name="Google Shape;57;p8"/>
          <p:cNvCxnSpPr/>
          <p:nvPr/>
        </p:nvCxnSpPr>
        <p:spPr>
          <a:xfrm>
            <a:off x="204064" y="384818"/>
            <a:ext cx="2006100" cy="0"/>
          </a:xfrm>
          <a:prstGeom prst="straightConnector1">
            <a:avLst/>
          </a:prstGeom>
          <a:noFill/>
          <a:ln w="25400" cap="flat" cmpd="sng">
            <a:solidFill>
              <a:srgbClr val="E4610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8" name="Google Shape;58;p8"/>
          <p:cNvCxnSpPr/>
          <p:nvPr/>
        </p:nvCxnSpPr>
        <p:spPr>
          <a:xfrm>
            <a:off x="2532476" y="384818"/>
            <a:ext cx="6364200" cy="0"/>
          </a:xfrm>
          <a:prstGeom prst="straightConnector1">
            <a:avLst/>
          </a:prstGeom>
          <a:noFill/>
          <a:ln w="12700" cap="flat" cmpd="sng">
            <a:solidFill>
              <a:srgbClr val="E4610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9" name="Google Shape;59;p8"/>
          <p:cNvSpPr txBox="1">
            <a:spLocks noGrp="1"/>
          </p:cNvSpPr>
          <p:nvPr>
            <p:ph type="body" idx="1"/>
          </p:nvPr>
        </p:nvSpPr>
        <p:spPr>
          <a:xfrm>
            <a:off x="0" y="4133851"/>
            <a:ext cx="9144000" cy="105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Arial"/>
              <a:buNone/>
              <a:defRPr sz="3200" b="0" i="1" u="none" strike="noStrike" cap="none">
                <a:solidFill>
                  <a:srgbClr val="FF0000"/>
                </a:solidFill>
                <a:latin typeface="MS Gothic"/>
                <a:ea typeface="MS Gothic"/>
                <a:cs typeface="MS Gothic"/>
                <a:sym typeface="MS Gothic"/>
              </a:defRPr>
            </a:lvl1pPr>
            <a:lvl2pPr marL="914400" marR="0" lvl="1" indent="-40640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81000" algn="l" rtl="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0" name="Google Shape;60;p8"/>
          <p:cNvSpPr txBox="1">
            <a:spLocks noGrp="1"/>
          </p:cNvSpPr>
          <p:nvPr>
            <p:ph type="body" idx="2"/>
          </p:nvPr>
        </p:nvSpPr>
        <p:spPr>
          <a:xfrm>
            <a:off x="204064" y="2990850"/>
            <a:ext cx="86925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0640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81000" algn="l" rtl="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61" name="Google Shape;61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43281" y="113944"/>
            <a:ext cx="468232" cy="2341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or End Slide">
  <p:cSld name="Section Header or End Slide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9"/>
          <p:cNvSpPr/>
          <p:nvPr/>
        </p:nvSpPr>
        <p:spPr>
          <a:xfrm>
            <a:off x="0" y="0"/>
            <a:ext cx="9141600" cy="5143500"/>
          </a:xfrm>
          <a:prstGeom prst="rect">
            <a:avLst/>
          </a:prstGeom>
          <a:solidFill>
            <a:srgbClr val="E4610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4" name="Google Shape;64;p9"/>
          <p:cNvCxnSpPr/>
          <p:nvPr/>
        </p:nvCxnSpPr>
        <p:spPr>
          <a:xfrm>
            <a:off x="204064" y="384818"/>
            <a:ext cx="2006100" cy="0"/>
          </a:xfrm>
          <a:prstGeom prst="straightConnector1">
            <a:avLst/>
          </a:prstGeom>
          <a:noFill/>
          <a:ln w="254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5" name="Google Shape;65;p9"/>
          <p:cNvCxnSpPr/>
          <p:nvPr/>
        </p:nvCxnSpPr>
        <p:spPr>
          <a:xfrm>
            <a:off x="2532476" y="384818"/>
            <a:ext cx="6364200" cy="0"/>
          </a:xfrm>
          <a:prstGeom prst="straightConnector1">
            <a:avLst/>
          </a:prstGeom>
          <a:noFill/>
          <a:ln w="127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6" name="Google Shape;66;p9"/>
          <p:cNvSpPr txBox="1">
            <a:spLocks noGrp="1"/>
          </p:cNvSpPr>
          <p:nvPr>
            <p:ph type="body" idx="1"/>
          </p:nvPr>
        </p:nvSpPr>
        <p:spPr>
          <a:xfrm>
            <a:off x="204064" y="3194050"/>
            <a:ext cx="8692500" cy="9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spcBef>
                <a:spcPts val="110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  <a:defRPr sz="5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0640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81000" algn="l" rtl="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7" name="Google Shape;67;p9"/>
          <p:cNvSpPr txBox="1">
            <a:spLocks noGrp="1"/>
          </p:cNvSpPr>
          <p:nvPr>
            <p:ph type="body" idx="2"/>
          </p:nvPr>
        </p:nvSpPr>
        <p:spPr>
          <a:xfrm>
            <a:off x="0" y="4133851"/>
            <a:ext cx="9144000" cy="105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Arial"/>
              <a:buNone/>
              <a:defRPr sz="3200" b="0" i="1" u="none" strike="noStrike" cap="none">
                <a:solidFill>
                  <a:srgbClr val="FF0000"/>
                </a:solidFill>
                <a:latin typeface="MS Gothic"/>
                <a:ea typeface="MS Gothic"/>
                <a:cs typeface="MS Gothic"/>
                <a:sym typeface="MS Gothic"/>
              </a:defRPr>
            </a:lvl1pPr>
            <a:lvl2pPr marL="914400" marR="0" lvl="1" indent="-40640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81000" algn="l" rtl="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68" name="Google Shape;68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43281" y="113944"/>
            <a:ext cx="468232" cy="2341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 1" type="obj">
  <p:cSld name="OBJECT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0"/>
          <p:cNvSpPr txBox="1">
            <a:spLocks noGrp="1"/>
          </p:cNvSpPr>
          <p:nvPr>
            <p:ph type="title"/>
          </p:nvPr>
        </p:nvSpPr>
        <p:spPr>
          <a:xfrm>
            <a:off x="457200" y="675085"/>
            <a:ext cx="8229600" cy="8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457200" marR="0" lvl="5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914400" marR="0" lvl="6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1371600" marR="0" lvl="7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1828800" marR="0" lvl="8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1" name="Google Shape;71;p10"/>
          <p:cNvSpPr txBox="1">
            <a:spLocks noGrp="1"/>
          </p:cNvSpPr>
          <p:nvPr>
            <p:ph type="body" idx="1"/>
          </p:nvPr>
        </p:nvSpPr>
        <p:spPr>
          <a:xfrm>
            <a:off x="523400" y="1522725"/>
            <a:ext cx="8229600" cy="23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21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»"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2" name="Google Shape;72;p10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3" name="Google Shape;73;p10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4" name="Google Shape;74;p10"/>
          <p:cNvSpPr txBox="1">
            <a:spLocks noGrp="1"/>
          </p:cNvSpPr>
          <p:nvPr>
            <p:ph type="sldNum" idx="12"/>
          </p:nvPr>
        </p:nvSpPr>
        <p:spPr>
          <a:xfrm>
            <a:off x="7010400" y="69008"/>
            <a:ext cx="2133600" cy="45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FFFFFF"/>
                </a:solidFill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FFFFFF"/>
                </a:solidFill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FFFFFF"/>
                </a:solidFill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FFFFFF"/>
                </a:solidFill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FFFFFF"/>
                </a:solidFill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FFFFFF"/>
                </a:solidFill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FFFFFF"/>
                </a:solidFill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FFFFFF"/>
                </a:solidFill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FFFFFF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1">
  <p:cSld name="TITLE_1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6" name="Google Shape;76;p11"/>
          <p:cNvGrpSpPr/>
          <p:nvPr/>
        </p:nvGrpSpPr>
        <p:grpSpPr>
          <a:xfrm>
            <a:off x="0" y="-6825"/>
            <a:ext cx="9144000" cy="414000"/>
            <a:chOff x="0" y="-6825"/>
            <a:chExt cx="9144000" cy="414000"/>
          </a:xfrm>
        </p:grpSpPr>
        <p:sp>
          <p:nvSpPr>
            <p:cNvPr id="77" name="Google Shape;77;p11"/>
            <p:cNvSpPr/>
            <p:nvPr/>
          </p:nvSpPr>
          <p:spPr>
            <a:xfrm>
              <a:off x="0" y="-6825"/>
              <a:ext cx="9144000" cy="414000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78" name="Google Shape;78;p11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3321775" y="-6824"/>
              <a:ext cx="2500432" cy="3936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9" name="Google Shape;79;p11"/>
          <p:cNvSpPr txBox="1">
            <a:spLocks noGrp="1"/>
          </p:cNvSpPr>
          <p:nvPr>
            <p:ph type="sldNum" idx="12"/>
          </p:nvPr>
        </p:nvSpPr>
        <p:spPr>
          <a:xfrm>
            <a:off x="8595309" y="33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buNone/>
              <a:defRPr sz="1300">
                <a:solidFill>
                  <a:srgbClr val="FFFFFF"/>
                </a:solidFill>
              </a:defRPr>
            </a:lvl1pPr>
            <a:lvl2pPr lvl="1" rtl="0">
              <a:buNone/>
              <a:defRPr sz="1300">
                <a:solidFill>
                  <a:srgbClr val="FFFFFF"/>
                </a:solidFill>
              </a:defRPr>
            </a:lvl2pPr>
            <a:lvl3pPr lvl="2" rtl="0">
              <a:buNone/>
              <a:defRPr sz="1300">
                <a:solidFill>
                  <a:srgbClr val="FFFFFF"/>
                </a:solidFill>
              </a:defRPr>
            </a:lvl3pPr>
            <a:lvl4pPr lvl="3" rtl="0">
              <a:buNone/>
              <a:defRPr sz="1300">
                <a:solidFill>
                  <a:srgbClr val="FFFFFF"/>
                </a:solidFill>
              </a:defRPr>
            </a:lvl4pPr>
            <a:lvl5pPr lvl="4" rtl="0">
              <a:buNone/>
              <a:defRPr sz="1300">
                <a:solidFill>
                  <a:srgbClr val="FFFFFF"/>
                </a:solidFill>
              </a:defRPr>
            </a:lvl5pPr>
            <a:lvl6pPr lvl="5" rtl="0">
              <a:buNone/>
              <a:defRPr sz="1300">
                <a:solidFill>
                  <a:srgbClr val="FFFFFF"/>
                </a:solidFill>
              </a:defRPr>
            </a:lvl6pPr>
            <a:lvl7pPr lvl="6" rtl="0">
              <a:buNone/>
              <a:defRPr sz="1300">
                <a:solidFill>
                  <a:srgbClr val="FFFFFF"/>
                </a:solidFill>
              </a:defRPr>
            </a:lvl7pPr>
            <a:lvl8pPr lvl="7" rtl="0">
              <a:buNone/>
              <a:defRPr sz="1300">
                <a:solidFill>
                  <a:srgbClr val="FFFFFF"/>
                </a:solidFill>
              </a:defRPr>
            </a:lvl8pPr>
            <a:lvl9pPr lvl="8" rtl="0">
              <a:buNone/>
              <a:defRPr sz="1300">
                <a:solidFill>
                  <a:srgbClr val="FFFFFF"/>
                </a:solidFill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2">
  <p:cSld name="TITLE_2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83" name="Google Shape;83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hyperlink" Target="https://github.com/efgics" TargetMode="Externa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1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243271" y="113954"/>
            <a:ext cx="591313" cy="295625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1"/>
          <p:cNvSpPr txBox="1"/>
          <p:nvPr/>
        </p:nvSpPr>
        <p:spPr>
          <a:xfrm>
            <a:off x="4111975" y="172825"/>
            <a:ext cx="4846800" cy="29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Rochester Institute of Technology</a:t>
            </a:r>
            <a:r>
              <a:rPr lang="en" sz="1700" b="1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  </a:t>
            </a:r>
            <a:r>
              <a:rPr lang="en" sz="1700" b="1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|</a:t>
            </a:r>
            <a:r>
              <a:rPr lang="en" sz="1700" b="1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lang="en" sz="1700" b="1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fld id="{00000000-1234-1234-1234-123412341234}" type="slidenum">
              <a:rPr lang="en" sz="1600" b="1" i="0" u="none" strike="noStrike" cap="none">
                <a:solidFill>
                  <a:schemeClr val="dk1"/>
                </a:solidFill>
              </a:rPr>
              <a:t>‹#›</a:t>
            </a:fld>
            <a:endParaRPr sz="2700" b="1" i="0" u="none" strike="noStrike" cap="none">
              <a:solidFill>
                <a:srgbClr val="000000"/>
              </a:solidFill>
            </a:endParaRPr>
          </a:p>
        </p:txBody>
      </p:sp>
      <p:cxnSp>
        <p:nvCxnSpPr>
          <p:cNvPr id="8" name="Google Shape;8;p1"/>
          <p:cNvCxnSpPr/>
          <p:nvPr/>
        </p:nvCxnSpPr>
        <p:spPr>
          <a:xfrm>
            <a:off x="204064" y="460570"/>
            <a:ext cx="2006100" cy="0"/>
          </a:xfrm>
          <a:prstGeom prst="straightConnector1">
            <a:avLst/>
          </a:prstGeom>
          <a:noFill/>
          <a:ln w="25400" cap="flat" cmpd="sng">
            <a:solidFill>
              <a:srgbClr val="E4610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9" name="Google Shape;9;p1"/>
          <p:cNvCxnSpPr/>
          <p:nvPr/>
        </p:nvCxnSpPr>
        <p:spPr>
          <a:xfrm>
            <a:off x="2532476" y="460570"/>
            <a:ext cx="6364200" cy="0"/>
          </a:xfrm>
          <a:prstGeom prst="straightConnector1">
            <a:avLst/>
          </a:prstGeom>
          <a:noFill/>
          <a:ln w="12700" cap="flat" cmpd="sng">
            <a:solidFill>
              <a:srgbClr val="E4610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0" name="Google Shape;10;p1"/>
          <p:cNvSpPr/>
          <p:nvPr/>
        </p:nvSpPr>
        <p:spPr>
          <a:xfrm>
            <a:off x="0" y="4775202"/>
            <a:ext cx="9144000" cy="3885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u="sng" dirty="0">
                <a:solidFill>
                  <a:schemeClr val="hlink"/>
                </a:solidFill>
                <a:hlinkClick r:id="rId14"/>
              </a:rPr>
              <a:t>https://github.com/efgics</a:t>
            </a:r>
            <a:endParaRPr sz="1800" dirty="0">
              <a:solidFill>
                <a:srgbClr val="FFFFFF"/>
              </a:solidFill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-users.cs.umn.edu/~kumar001/dmbook/index.php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9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9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9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9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9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9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5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9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9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9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9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9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9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9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9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9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9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3"/>
          <p:cNvSpPr txBox="1">
            <a:spLocks noGrp="1"/>
          </p:cNvSpPr>
          <p:nvPr>
            <p:ph type="ctrTitle"/>
          </p:nvPr>
        </p:nvSpPr>
        <p:spPr>
          <a:xfrm>
            <a:off x="311708" y="959728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Foundations of Data Science &amp; Analytics: Preprocessing</a:t>
            </a:r>
            <a:endParaRPr dirty="0"/>
          </a:p>
        </p:txBody>
      </p:sp>
      <p:sp>
        <p:nvSpPr>
          <p:cNvPr id="89" name="Google Shape;89;p1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Ezgi Siir Kibris</a:t>
            </a:r>
            <a:endParaRPr dirty="0"/>
          </a:p>
        </p:txBody>
      </p:sp>
      <p:sp>
        <p:nvSpPr>
          <p:cNvPr id="90" name="Google Shape;90;p13"/>
          <p:cNvSpPr txBox="1"/>
          <p:nvPr/>
        </p:nvSpPr>
        <p:spPr>
          <a:xfrm>
            <a:off x="5553800" y="3750175"/>
            <a:ext cx="33120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Introduction to Data Mining, 2nd Edition</a:t>
            </a:r>
            <a:endParaRPr/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by</a:t>
            </a:r>
            <a:endParaRPr/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Tan, Steinbach, Karpatne, Kumar</a:t>
            </a:r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A561BBA-B8A9-9397-BEBD-9C4C75D76451}"/>
              </a:ext>
            </a:extLst>
          </p:cNvPr>
          <p:cNvSpPr/>
          <p:nvPr/>
        </p:nvSpPr>
        <p:spPr>
          <a:xfrm>
            <a:off x="0" y="4702929"/>
            <a:ext cx="9144000" cy="44340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</a:pPr>
            <a:r>
              <a:rPr lang="en-US" dirty="0">
                <a:solidFill>
                  <a:schemeClr val="bg1"/>
                </a:solidFill>
              </a:rPr>
              <a:t>Data Preprocessing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4"/>
          <p:cNvSpPr txBox="1">
            <a:spLocks noGrp="1"/>
          </p:cNvSpPr>
          <p:nvPr>
            <p:ph type="title"/>
          </p:nvPr>
        </p:nvSpPr>
        <p:spPr>
          <a:xfrm>
            <a:off x="457200" y="522685"/>
            <a:ext cx="8229600" cy="801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Mining / Machine Learning Pipeline</a:t>
            </a:r>
            <a:endParaRPr/>
          </a:p>
        </p:txBody>
      </p:sp>
      <p:sp>
        <p:nvSpPr>
          <p:cNvPr id="96" name="Google Shape;96;p14"/>
          <p:cNvSpPr/>
          <p:nvPr/>
        </p:nvSpPr>
        <p:spPr>
          <a:xfrm>
            <a:off x="3611725" y="1222696"/>
            <a:ext cx="1499400" cy="903000"/>
          </a:xfrm>
          <a:prstGeom prst="rect">
            <a:avLst/>
          </a:prstGeom>
          <a:noFill/>
          <a:ln w="28575" cap="flat" cmpd="sng">
            <a:solidFill>
              <a:srgbClr val="E3610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97" name="Google Shape;97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38275" y="1250660"/>
            <a:ext cx="6867439" cy="351471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2600B685-E229-B309-D429-38E3C7BF9261}"/>
              </a:ext>
            </a:extLst>
          </p:cNvPr>
          <p:cNvSpPr/>
          <p:nvPr/>
        </p:nvSpPr>
        <p:spPr>
          <a:xfrm>
            <a:off x="0" y="4702929"/>
            <a:ext cx="9144000" cy="44340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</a:pPr>
            <a:r>
              <a:rPr lang="en-US" dirty="0">
                <a:solidFill>
                  <a:schemeClr val="bg1"/>
                </a:solidFill>
              </a:rPr>
              <a:t>Data Preprocessing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5"/>
          <p:cNvSpPr txBox="1">
            <a:spLocks noGrp="1"/>
          </p:cNvSpPr>
          <p:nvPr>
            <p:ph type="title"/>
          </p:nvPr>
        </p:nvSpPr>
        <p:spPr>
          <a:xfrm>
            <a:off x="457200" y="522685"/>
            <a:ext cx="8229600" cy="801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Preprocessing</a:t>
            </a:r>
            <a:endParaRPr/>
          </a:p>
        </p:txBody>
      </p:sp>
      <p:sp>
        <p:nvSpPr>
          <p:cNvPr id="103" name="Google Shape;103;p15"/>
          <p:cNvSpPr txBox="1"/>
          <p:nvPr/>
        </p:nvSpPr>
        <p:spPr>
          <a:xfrm>
            <a:off x="756850" y="1628500"/>
            <a:ext cx="5028600" cy="314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b="1">
                <a:solidFill>
                  <a:schemeClr val="dk1"/>
                </a:solidFill>
              </a:rPr>
              <a:t>Goal:</a:t>
            </a:r>
            <a:endParaRPr sz="3200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Transform raw data to a format that machine learning / data mining models can (easily) learn from.</a:t>
            </a:r>
            <a:endParaRPr/>
          </a:p>
        </p:txBody>
      </p:sp>
      <p:pic>
        <p:nvPicPr>
          <p:cNvPr id="104" name="Google Shape;104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04575" y="719175"/>
            <a:ext cx="3065300" cy="392922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DA9E1438-4491-C7D1-8CC8-9EF2A3FE7444}"/>
              </a:ext>
            </a:extLst>
          </p:cNvPr>
          <p:cNvSpPr/>
          <p:nvPr/>
        </p:nvSpPr>
        <p:spPr>
          <a:xfrm>
            <a:off x="0" y="4702929"/>
            <a:ext cx="9144000" cy="44340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</a:pPr>
            <a:r>
              <a:rPr lang="en-US" dirty="0">
                <a:solidFill>
                  <a:schemeClr val="bg1"/>
                </a:solidFill>
              </a:rPr>
              <a:t>Data Preprocessing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6"/>
          <p:cNvSpPr txBox="1">
            <a:spLocks noGrp="1"/>
          </p:cNvSpPr>
          <p:nvPr>
            <p:ph type="title"/>
          </p:nvPr>
        </p:nvSpPr>
        <p:spPr>
          <a:xfrm>
            <a:off x="457200" y="522685"/>
            <a:ext cx="8229600" cy="801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Preprocessing</a:t>
            </a:r>
            <a:endParaRPr/>
          </a:p>
        </p:txBody>
      </p:sp>
      <p:pic>
        <p:nvPicPr>
          <p:cNvPr id="110" name="Google Shape;110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4025" y="1466750"/>
            <a:ext cx="2282300" cy="1372600"/>
          </a:xfrm>
          <a:prstGeom prst="rect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graphicFrame>
        <p:nvGraphicFramePr>
          <p:cNvPr id="111" name="Google Shape;111;p16"/>
          <p:cNvGraphicFramePr/>
          <p:nvPr/>
        </p:nvGraphicFramePr>
        <p:xfrm>
          <a:off x="5926725" y="1464425"/>
          <a:ext cx="2282250" cy="1372575"/>
        </p:xfrm>
        <a:graphic>
          <a:graphicData uri="http://schemas.openxmlformats.org/drawingml/2006/table">
            <a:tbl>
              <a:tblPr>
                <a:noFill/>
                <a:tableStyleId>{0A248766-A04C-4EB6-AE81-81BDD2FAE736}</a:tableStyleId>
              </a:tblPr>
              <a:tblGrid>
                <a:gridCol w="456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6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6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64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56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75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1</a:t>
                      </a:r>
                      <a:endParaRPr sz="1800"/>
                    </a:p>
                  </a:txBody>
                  <a:tcPr marL="91425" marR="91425" marT="91425" marB="91425" anchor="ctr">
                    <a:lnL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0</a:t>
                      </a:r>
                      <a:endParaRPr sz="1800"/>
                    </a:p>
                  </a:txBody>
                  <a:tcPr marL="91425" marR="91425" marT="91425" marB="91425" anchor="ctr">
                    <a:lnL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1</a:t>
                      </a:r>
                      <a:endParaRPr sz="1800"/>
                    </a:p>
                  </a:txBody>
                  <a:tcPr marL="91425" marR="91425" marT="91425" marB="91425" anchor="ctr">
                    <a:lnL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0</a:t>
                      </a:r>
                      <a:endParaRPr sz="1800"/>
                    </a:p>
                  </a:txBody>
                  <a:tcPr marL="91425" marR="91425" marT="91425" marB="91425" anchor="ctr">
                    <a:lnL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1</a:t>
                      </a:r>
                      <a:endParaRPr sz="1800"/>
                    </a:p>
                  </a:txBody>
                  <a:tcPr marL="91425" marR="91425" marT="91425" marB="91425" anchor="ctr">
                    <a:lnL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5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0</a:t>
                      </a:r>
                      <a:endParaRPr sz="1800"/>
                    </a:p>
                  </a:txBody>
                  <a:tcPr marL="91425" marR="91425" marT="91425" marB="91425" anchor="ctr">
                    <a:lnL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1</a:t>
                      </a:r>
                      <a:endParaRPr sz="1800"/>
                    </a:p>
                  </a:txBody>
                  <a:tcPr marL="91425" marR="91425" marT="91425" marB="91425" anchor="ctr">
                    <a:lnL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0</a:t>
                      </a:r>
                      <a:endParaRPr sz="1800"/>
                    </a:p>
                  </a:txBody>
                  <a:tcPr marL="91425" marR="91425" marT="91425" marB="91425" anchor="ctr">
                    <a:lnL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1</a:t>
                      </a:r>
                      <a:endParaRPr sz="1800"/>
                    </a:p>
                  </a:txBody>
                  <a:tcPr marL="91425" marR="91425" marT="91425" marB="91425" anchor="ctr">
                    <a:lnL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0</a:t>
                      </a:r>
                      <a:endParaRPr sz="1800"/>
                    </a:p>
                  </a:txBody>
                  <a:tcPr marL="91425" marR="91425" marT="91425" marB="91425" anchor="ctr">
                    <a:lnL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5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1</a:t>
                      </a:r>
                      <a:endParaRPr sz="1800"/>
                    </a:p>
                  </a:txBody>
                  <a:tcPr marL="91425" marR="91425" marT="91425" marB="91425" anchor="ctr">
                    <a:lnL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0</a:t>
                      </a:r>
                      <a:endParaRPr sz="1800"/>
                    </a:p>
                  </a:txBody>
                  <a:tcPr marL="91425" marR="91425" marT="91425" marB="91425" anchor="ctr">
                    <a:lnL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1</a:t>
                      </a:r>
                      <a:endParaRPr sz="1800"/>
                    </a:p>
                  </a:txBody>
                  <a:tcPr marL="91425" marR="91425" marT="91425" marB="91425" anchor="ctr">
                    <a:lnL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0</a:t>
                      </a:r>
                      <a:endParaRPr sz="1800"/>
                    </a:p>
                  </a:txBody>
                  <a:tcPr marL="91425" marR="91425" marT="91425" marB="91425" anchor="ctr">
                    <a:lnL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1</a:t>
                      </a:r>
                      <a:endParaRPr sz="1800"/>
                    </a:p>
                  </a:txBody>
                  <a:tcPr marL="91425" marR="91425" marT="91425" marB="91425" anchor="ctr">
                    <a:lnL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12" name="Google Shape;112;p16"/>
          <p:cNvSpPr/>
          <p:nvPr/>
        </p:nvSpPr>
        <p:spPr>
          <a:xfrm>
            <a:off x="3600225" y="1685488"/>
            <a:ext cx="1918800" cy="9351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aphicFrame>
        <p:nvGraphicFramePr>
          <p:cNvPr id="113" name="Google Shape;113;p16"/>
          <p:cNvGraphicFramePr/>
          <p:nvPr/>
        </p:nvGraphicFramePr>
        <p:xfrm>
          <a:off x="5725225" y="3446563"/>
          <a:ext cx="3233500" cy="915050"/>
        </p:xfrm>
        <a:graphic>
          <a:graphicData uri="http://schemas.openxmlformats.org/drawingml/2006/table">
            <a:tbl>
              <a:tblPr>
                <a:noFill/>
                <a:tableStyleId>{0A248766-A04C-4EB6-AE81-81BDD2FAE736}</a:tableStyleId>
              </a:tblPr>
              <a:tblGrid>
                <a:gridCol w="533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9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6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6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467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75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i</a:t>
                      </a:r>
                      <a:endParaRPr sz="1800"/>
                    </a:p>
                  </a:txBody>
                  <a:tcPr marL="91425" marR="91425" marT="91425" marB="91425" anchor="ctr">
                    <a:lnL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need</a:t>
                      </a:r>
                      <a:endParaRPr sz="1800"/>
                    </a:p>
                  </a:txBody>
                  <a:tcPr marL="91425" marR="91425" marT="91425" marB="91425" anchor="ctr">
                    <a:lnL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to</a:t>
                      </a:r>
                      <a:endParaRPr sz="1800"/>
                    </a:p>
                  </a:txBody>
                  <a:tcPr marL="91425" marR="91425" marT="91425" marB="91425" anchor="ctr">
                    <a:lnL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talk</a:t>
                      </a:r>
                      <a:endParaRPr sz="1800"/>
                    </a:p>
                  </a:txBody>
                  <a:tcPr marL="91425" marR="91425" marT="91425" marB="91425" anchor="ctr">
                    <a:lnL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you</a:t>
                      </a:r>
                      <a:endParaRPr sz="1800"/>
                    </a:p>
                  </a:txBody>
                  <a:tcPr marL="91425" marR="91425" marT="91425" marB="91425" anchor="ctr">
                    <a:lnL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5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1</a:t>
                      </a:r>
                      <a:endParaRPr sz="1800"/>
                    </a:p>
                  </a:txBody>
                  <a:tcPr marL="91425" marR="91425" marT="91425" marB="91425" anchor="ctr">
                    <a:lnL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1</a:t>
                      </a:r>
                      <a:endParaRPr sz="1800"/>
                    </a:p>
                  </a:txBody>
                  <a:tcPr marL="91425" marR="91425" marT="91425" marB="91425" anchor="ctr">
                    <a:lnL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2</a:t>
                      </a:r>
                      <a:endParaRPr sz="1800"/>
                    </a:p>
                  </a:txBody>
                  <a:tcPr marL="91425" marR="91425" marT="91425" marB="91425" anchor="ctr">
                    <a:lnL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1</a:t>
                      </a:r>
                      <a:endParaRPr sz="1800"/>
                    </a:p>
                  </a:txBody>
                  <a:tcPr marL="91425" marR="91425" marT="91425" marB="91425" anchor="ctr">
                    <a:lnL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1</a:t>
                      </a:r>
                      <a:endParaRPr sz="1800"/>
                    </a:p>
                  </a:txBody>
                  <a:tcPr marL="91425" marR="91425" marT="91425" marB="91425" anchor="ctr">
                    <a:lnL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14" name="Google Shape;114;p16"/>
          <p:cNvSpPr/>
          <p:nvPr/>
        </p:nvSpPr>
        <p:spPr>
          <a:xfrm>
            <a:off x="3600225" y="3438088"/>
            <a:ext cx="1918800" cy="9351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16"/>
          <p:cNvSpPr txBox="1"/>
          <p:nvPr/>
        </p:nvSpPr>
        <p:spPr>
          <a:xfrm>
            <a:off x="833975" y="3446500"/>
            <a:ext cx="2282400" cy="918300"/>
          </a:xfrm>
          <a:prstGeom prst="rect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I need to talk to you</a:t>
            </a:r>
            <a:endParaRPr sz="240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D5DB5C6-F6B2-5FE7-9ECB-F3023FA22022}"/>
              </a:ext>
            </a:extLst>
          </p:cNvPr>
          <p:cNvSpPr/>
          <p:nvPr/>
        </p:nvSpPr>
        <p:spPr>
          <a:xfrm>
            <a:off x="0" y="4702929"/>
            <a:ext cx="9144000" cy="44340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</a:pPr>
            <a:r>
              <a:rPr lang="en-US" dirty="0">
                <a:solidFill>
                  <a:schemeClr val="bg1"/>
                </a:solidFill>
              </a:rPr>
              <a:t>Data Preprocessing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7"/>
          <p:cNvSpPr txBox="1">
            <a:spLocks noGrp="1"/>
          </p:cNvSpPr>
          <p:nvPr>
            <p:ph type="title"/>
          </p:nvPr>
        </p:nvSpPr>
        <p:spPr>
          <a:xfrm>
            <a:off x="457200" y="522685"/>
            <a:ext cx="8229600" cy="801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Preprocessing</a:t>
            </a:r>
            <a:endParaRPr/>
          </a:p>
        </p:txBody>
      </p:sp>
      <p:sp>
        <p:nvSpPr>
          <p:cNvPr id="121" name="Google Shape;121;p17"/>
          <p:cNvSpPr txBox="1"/>
          <p:nvPr/>
        </p:nvSpPr>
        <p:spPr>
          <a:xfrm>
            <a:off x="465053" y="1166973"/>
            <a:ext cx="5193872" cy="343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 dirty="0"/>
              <a:t>Manipulating Data (rows)</a:t>
            </a:r>
            <a:endParaRPr sz="2400" dirty="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 dirty="0"/>
              <a:t>Sampling</a:t>
            </a:r>
            <a:endParaRPr sz="1800" dirty="0"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 dirty="0">
                <a:solidFill>
                  <a:schemeClr val="dk1"/>
                </a:solidFill>
              </a:rPr>
              <a:t>Manipulating Values</a:t>
            </a:r>
            <a:endParaRPr sz="1800" dirty="0">
              <a:solidFill>
                <a:schemeClr val="dk1"/>
              </a:solidFill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" sz="1800" dirty="0">
                <a:solidFill>
                  <a:schemeClr val="dk1"/>
                </a:solidFill>
              </a:rPr>
              <a:t>Discretization</a:t>
            </a:r>
            <a:endParaRPr sz="2400" dirty="0">
              <a:solidFill>
                <a:schemeClr val="dk1"/>
              </a:solidFill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 dirty="0"/>
              <a:t>Normalization</a:t>
            </a:r>
            <a:endParaRPr sz="1800" dirty="0"/>
          </a:p>
          <a:p>
            <a:pPr marL="9144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 dirty="0">
                <a:solidFill>
                  <a:schemeClr val="dk1"/>
                </a:solidFill>
              </a:rPr>
              <a:t>Manipulating Features (columns)</a:t>
            </a:r>
            <a:endParaRPr sz="2400" dirty="0">
              <a:solidFill>
                <a:schemeClr val="dk1"/>
              </a:solidFill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" sz="1800" dirty="0">
                <a:solidFill>
                  <a:schemeClr val="dk1"/>
                </a:solidFill>
              </a:rPr>
              <a:t>Dimensionality Reduction</a:t>
            </a:r>
            <a:endParaRPr sz="1800" dirty="0">
              <a:solidFill>
                <a:schemeClr val="dk1"/>
              </a:solidFill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" sz="1800" dirty="0">
                <a:solidFill>
                  <a:schemeClr val="dk1"/>
                </a:solidFill>
              </a:rPr>
              <a:t>Feature Selection</a:t>
            </a:r>
            <a:endParaRPr sz="1800" dirty="0">
              <a:solidFill>
                <a:schemeClr val="dk1"/>
              </a:solidFill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" sz="1800" dirty="0">
                <a:solidFill>
                  <a:schemeClr val="dk1"/>
                </a:solidFill>
              </a:rPr>
              <a:t>Feature Creation</a:t>
            </a:r>
            <a:endParaRPr sz="18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122" name="Google Shape;122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04575" y="719175"/>
            <a:ext cx="3065300" cy="3929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7"/>
          <p:cNvSpPr txBox="1"/>
          <p:nvPr/>
        </p:nvSpPr>
        <p:spPr>
          <a:xfrm>
            <a:off x="3021675" y="1703625"/>
            <a:ext cx="1935000" cy="51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Only on training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24" name="Google Shape;124;p17"/>
          <p:cNvSpPr txBox="1"/>
          <p:nvPr/>
        </p:nvSpPr>
        <p:spPr>
          <a:xfrm>
            <a:off x="3842900" y="2626595"/>
            <a:ext cx="2029200" cy="10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dk2"/>
                </a:solidFill>
              </a:rPr>
              <a:t>Same on training, and test data</a:t>
            </a:r>
            <a:endParaRPr sz="1800" dirty="0">
              <a:solidFill>
                <a:schemeClr val="dk2"/>
              </a:solidFill>
            </a:endParaRPr>
          </a:p>
        </p:txBody>
      </p:sp>
      <p:cxnSp>
        <p:nvCxnSpPr>
          <p:cNvPr id="125" name="Google Shape;125;p17"/>
          <p:cNvCxnSpPr>
            <a:stCxn id="124" idx="1"/>
          </p:cNvCxnSpPr>
          <p:nvPr/>
        </p:nvCxnSpPr>
        <p:spPr>
          <a:xfrm rot="10800000">
            <a:off x="3551600" y="2826245"/>
            <a:ext cx="291300" cy="338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26" name="Google Shape;126;p17"/>
          <p:cNvCxnSpPr>
            <a:stCxn id="124" idx="1"/>
          </p:cNvCxnSpPr>
          <p:nvPr/>
        </p:nvCxnSpPr>
        <p:spPr>
          <a:xfrm flipH="1">
            <a:off x="3480800" y="3164345"/>
            <a:ext cx="362100" cy="461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29EBD349-21CE-29F4-8AD1-8E732111318B}"/>
              </a:ext>
            </a:extLst>
          </p:cNvPr>
          <p:cNvSpPr/>
          <p:nvPr/>
        </p:nvSpPr>
        <p:spPr>
          <a:xfrm>
            <a:off x="0" y="4702929"/>
            <a:ext cx="9144000" cy="44340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</a:pPr>
            <a:r>
              <a:rPr lang="en-US" dirty="0">
                <a:solidFill>
                  <a:schemeClr val="bg1"/>
                </a:solidFill>
              </a:rPr>
              <a:t>Data Preprocessing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8"/>
          <p:cNvSpPr txBox="1">
            <a:spLocks noGrp="1"/>
          </p:cNvSpPr>
          <p:nvPr>
            <p:ph type="title"/>
          </p:nvPr>
        </p:nvSpPr>
        <p:spPr>
          <a:xfrm>
            <a:off x="457200" y="522685"/>
            <a:ext cx="8229600" cy="801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Preprocessing</a:t>
            </a:r>
            <a:endParaRPr/>
          </a:p>
        </p:txBody>
      </p:sp>
      <p:sp>
        <p:nvSpPr>
          <p:cNvPr id="132" name="Google Shape;132;p18"/>
          <p:cNvSpPr txBox="1"/>
          <p:nvPr/>
        </p:nvSpPr>
        <p:spPr>
          <a:xfrm>
            <a:off x="599575" y="1747525"/>
            <a:ext cx="5205000" cy="290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 b="1" dirty="0"/>
              <a:t>Supervised</a:t>
            </a:r>
            <a:endParaRPr sz="2400" b="1" dirty="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 dirty="0"/>
              <a:t>Requires labels</a:t>
            </a:r>
            <a:endParaRPr sz="1800" dirty="0"/>
          </a:p>
          <a:p>
            <a:pPr marL="9144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 b="1" dirty="0">
                <a:solidFill>
                  <a:schemeClr val="dk1"/>
                </a:solidFill>
              </a:rPr>
              <a:t>Unsupervised</a:t>
            </a:r>
            <a:endParaRPr sz="2400" b="1" dirty="0">
              <a:solidFill>
                <a:schemeClr val="dk1"/>
              </a:solidFill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" sz="1800" dirty="0">
                <a:solidFill>
                  <a:schemeClr val="dk1"/>
                </a:solidFill>
              </a:rPr>
              <a:t>Does not rely on labels</a:t>
            </a:r>
            <a:endParaRPr sz="18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133" name="Google Shape;133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04575" y="719175"/>
            <a:ext cx="3065300" cy="392922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DE6ED538-285C-E16C-8653-E85DFF0E9A9D}"/>
              </a:ext>
            </a:extLst>
          </p:cNvPr>
          <p:cNvSpPr/>
          <p:nvPr/>
        </p:nvSpPr>
        <p:spPr>
          <a:xfrm>
            <a:off x="0" y="4702929"/>
            <a:ext cx="9144000" cy="44340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</a:pPr>
            <a:r>
              <a:rPr lang="en-US" dirty="0">
                <a:solidFill>
                  <a:schemeClr val="bg1"/>
                </a:solidFill>
              </a:rPr>
              <a:t>Data Preprocessing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9"/>
          <p:cNvSpPr txBox="1">
            <a:spLocks noGrp="1"/>
          </p:cNvSpPr>
          <p:nvPr>
            <p:ph type="title"/>
          </p:nvPr>
        </p:nvSpPr>
        <p:spPr>
          <a:xfrm>
            <a:off x="457200" y="522685"/>
            <a:ext cx="8229600" cy="801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Preprocessing</a:t>
            </a:r>
            <a:endParaRPr/>
          </a:p>
        </p:txBody>
      </p:sp>
      <p:pic>
        <p:nvPicPr>
          <p:cNvPr id="139" name="Google Shape;13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04575" y="719175"/>
            <a:ext cx="3065300" cy="3929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9"/>
          <p:cNvSpPr txBox="1"/>
          <p:nvPr/>
        </p:nvSpPr>
        <p:spPr>
          <a:xfrm>
            <a:off x="457200" y="1084984"/>
            <a:ext cx="5015700" cy="343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 dirty="0"/>
              <a:t>Manipulating Data (rows)</a:t>
            </a:r>
            <a:endParaRPr sz="2400" dirty="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</a:pPr>
            <a:r>
              <a:rPr lang="en" sz="1800" dirty="0">
                <a:solidFill>
                  <a:schemeClr val="dk2"/>
                </a:solidFill>
              </a:rPr>
              <a:t>Sampling</a:t>
            </a:r>
            <a:endParaRPr sz="1800" dirty="0">
              <a:solidFill>
                <a:schemeClr val="dk2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 dirty="0">
                <a:solidFill>
                  <a:schemeClr val="dk1"/>
                </a:solidFill>
              </a:rPr>
              <a:t>Manipulating Values</a:t>
            </a:r>
            <a:endParaRPr sz="1800" dirty="0">
              <a:solidFill>
                <a:schemeClr val="dk1"/>
              </a:solidFill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" sz="1800" dirty="0">
                <a:solidFill>
                  <a:schemeClr val="dk1"/>
                </a:solidFill>
              </a:rPr>
              <a:t>Discretization</a:t>
            </a:r>
            <a:endParaRPr sz="2400" dirty="0">
              <a:solidFill>
                <a:schemeClr val="dk1"/>
              </a:solidFill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 dirty="0"/>
              <a:t>Normalization</a:t>
            </a:r>
            <a:endParaRPr sz="1800" dirty="0"/>
          </a:p>
          <a:p>
            <a:pPr marL="9144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 dirty="0">
                <a:solidFill>
                  <a:schemeClr val="dk1"/>
                </a:solidFill>
              </a:rPr>
              <a:t>Manipulating Feature (columns)</a:t>
            </a:r>
            <a:endParaRPr sz="2400" dirty="0">
              <a:solidFill>
                <a:schemeClr val="dk1"/>
              </a:solidFill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" sz="1800" dirty="0">
                <a:solidFill>
                  <a:schemeClr val="dk1"/>
                </a:solidFill>
              </a:rPr>
              <a:t>Dimensionality Reduction</a:t>
            </a:r>
            <a:endParaRPr sz="1800" dirty="0">
              <a:solidFill>
                <a:schemeClr val="dk1"/>
              </a:solidFill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" sz="1800" dirty="0">
                <a:solidFill>
                  <a:schemeClr val="dk1"/>
                </a:solidFill>
              </a:rPr>
              <a:t>Feature Selection</a:t>
            </a:r>
            <a:endParaRPr sz="1800" dirty="0">
              <a:solidFill>
                <a:schemeClr val="dk1"/>
              </a:solidFill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" sz="1800" dirty="0">
                <a:solidFill>
                  <a:schemeClr val="dk1"/>
                </a:solidFill>
              </a:rPr>
              <a:t>Feature Creation</a:t>
            </a:r>
            <a:endParaRPr sz="18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FF6BF8C-602D-08DD-DAB4-ACC4A2056E54}"/>
              </a:ext>
            </a:extLst>
          </p:cNvPr>
          <p:cNvSpPr/>
          <p:nvPr/>
        </p:nvSpPr>
        <p:spPr>
          <a:xfrm>
            <a:off x="0" y="4702929"/>
            <a:ext cx="9144000" cy="44340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</a:pPr>
            <a:r>
              <a:rPr lang="en-US" dirty="0">
                <a:solidFill>
                  <a:schemeClr val="bg1"/>
                </a:solidFill>
              </a:rPr>
              <a:t>Data Preprocessing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0"/>
          <p:cNvSpPr txBox="1">
            <a:spLocks noGrp="1"/>
          </p:cNvSpPr>
          <p:nvPr>
            <p:ph type="title"/>
          </p:nvPr>
        </p:nvSpPr>
        <p:spPr>
          <a:xfrm>
            <a:off x="457200" y="522685"/>
            <a:ext cx="8229600" cy="801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Sampling</a:t>
            </a:r>
            <a:endParaRPr/>
          </a:p>
        </p:txBody>
      </p:sp>
      <p:sp>
        <p:nvSpPr>
          <p:cNvPr id="146" name="Google Shape;146;p20"/>
          <p:cNvSpPr txBox="1"/>
          <p:nvPr/>
        </p:nvSpPr>
        <p:spPr>
          <a:xfrm>
            <a:off x="756850" y="1483400"/>
            <a:ext cx="5028600" cy="316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 dirty="0"/>
              <a:t>Reducing size of data</a:t>
            </a:r>
            <a:endParaRPr sz="2400" dirty="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 dirty="0"/>
              <a:t>Random sampling</a:t>
            </a:r>
            <a:endParaRPr sz="1800" dirty="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 dirty="0"/>
              <a:t>Stratified sampling</a:t>
            </a:r>
            <a:endParaRPr sz="1800" dirty="0"/>
          </a:p>
          <a:p>
            <a:pPr marL="9144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147" name="Google Shape;147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04575" y="719175"/>
            <a:ext cx="3065300" cy="392922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72A187E4-3E3F-99A8-E3CE-94163825AA05}"/>
              </a:ext>
            </a:extLst>
          </p:cNvPr>
          <p:cNvSpPr/>
          <p:nvPr/>
        </p:nvSpPr>
        <p:spPr>
          <a:xfrm>
            <a:off x="0" y="4702929"/>
            <a:ext cx="9144000" cy="44340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</a:pPr>
            <a:r>
              <a:rPr lang="en-US" dirty="0">
                <a:solidFill>
                  <a:schemeClr val="bg1"/>
                </a:solidFill>
              </a:rPr>
              <a:t>Data Preprocessing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2"/>
          <p:cNvSpPr txBox="1">
            <a:spLocks noGrp="1"/>
          </p:cNvSpPr>
          <p:nvPr>
            <p:ph type="title"/>
          </p:nvPr>
        </p:nvSpPr>
        <p:spPr>
          <a:xfrm>
            <a:off x="457200" y="522685"/>
            <a:ext cx="8229600" cy="801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Reducing Size of Data</a:t>
            </a:r>
            <a:endParaRPr/>
          </a:p>
        </p:txBody>
      </p:sp>
      <p:sp>
        <p:nvSpPr>
          <p:cNvPr id="160" name="Google Shape;160;p22"/>
          <p:cNvSpPr txBox="1"/>
          <p:nvPr/>
        </p:nvSpPr>
        <p:spPr>
          <a:xfrm>
            <a:off x="756850" y="1331000"/>
            <a:ext cx="7929900" cy="35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Random Sampling</a:t>
            </a:r>
            <a:endParaRPr sz="240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Sampling without replacement</a:t>
            </a:r>
            <a:endParaRPr sz="1800"/>
          </a:p>
          <a:p>
            <a:pPr marL="1371600" lvl="2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As each item is selected, it is removed from the population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Sampling with replacement</a:t>
            </a:r>
            <a:endParaRPr sz="1800"/>
          </a:p>
          <a:p>
            <a:pPr marL="1371600" lvl="2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Objects are not removed from the population as they are selected for the sample.   </a:t>
            </a:r>
            <a:endParaRPr/>
          </a:p>
          <a:p>
            <a:pPr marL="1371600" lvl="2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The same object can be picked up more than once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</a:rPr>
              <a:t>Stratified sampling</a:t>
            </a:r>
            <a:endParaRPr sz="2400">
              <a:solidFill>
                <a:schemeClr val="dk1"/>
              </a:solidFill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" sz="1800">
                <a:solidFill>
                  <a:schemeClr val="dk1"/>
                </a:solidFill>
              </a:rPr>
              <a:t>Random sample from each class.</a:t>
            </a:r>
            <a:endParaRPr sz="1800">
              <a:solidFill>
                <a:schemeClr val="dk1"/>
              </a:solidFill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" sz="1800">
                <a:solidFill>
                  <a:schemeClr val="dk1"/>
                </a:solidFill>
              </a:rPr>
              <a:t>Keep the same distribution of classes.</a:t>
            </a:r>
            <a:endParaRPr sz="1800">
              <a:solidFill>
                <a:schemeClr val="dk1"/>
              </a:solidFill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" sz="1800">
                <a:solidFill>
                  <a:schemeClr val="dk1"/>
                </a:solidFill>
              </a:rPr>
              <a:t>Avoid the sampled data to miss some classes.</a:t>
            </a:r>
            <a:endParaRPr sz="1800">
              <a:solidFill>
                <a:schemeClr val="dk1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p22"/>
          <p:cNvSpPr txBox="1"/>
          <p:nvPr/>
        </p:nvSpPr>
        <p:spPr>
          <a:xfrm>
            <a:off x="6368900" y="1407200"/>
            <a:ext cx="2160600" cy="60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Unsupervised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62" name="Google Shape;162;p22"/>
          <p:cNvSpPr txBox="1"/>
          <p:nvPr/>
        </p:nvSpPr>
        <p:spPr>
          <a:xfrm>
            <a:off x="6368900" y="3575075"/>
            <a:ext cx="1935000" cy="8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Supervised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C2B4C66-EA80-28CB-FDDA-19B9EBCE5C2D}"/>
              </a:ext>
            </a:extLst>
          </p:cNvPr>
          <p:cNvSpPr/>
          <p:nvPr/>
        </p:nvSpPr>
        <p:spPr>
          <a:xfrm>
            <a:off x="0" y="4702929"/>
            <a:ext cx="9144000" cy="44340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</a:pPr>
            <a:r>
              <a:rPr lang="en-US" dirty="0">
                <a:solidFill>
                  <a:schemeClr val="bg1"/>
                </a:solidFill>
              </a:rPr>
              <a:t>Data Preprocessing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3"/>
          <p:cNvSpPr txBox="1">
            <a:spLocks noGrp="1"/>
          </p:cNvSpPr>
          <p:nvPr>
            <p:ph type="title"/>
          </p:nvPr>
        </p:nvSpPr>
        <p:spPr>
          <a:xfrm>
            <a:off x="457200" y="522685"/>
            <a:ext cx="8229600" cy="801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Stratified sampling</a:t>
            </a:r>
            <a:endParaRPr/>
          </a:p>
        </p:txBody>
      </p:sp>
      <p:pic>
        <p:nvPicPr>
          <p:cNvPr id="168" name="Google Shape;168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51675" y="1227335"/>
            <a:ext cx="4040640" cy="3514716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23"/>
          <p:cNvSpPr txBox="1"/>
          <p:nvPr/>
        </p:nvSpPr>
        <p:spPr>
          <a:xfrm>
            <a:off x="1084725" y="2600500"/>
            <a:ext cx="1056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1 : 2 : 1 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70" name="Google Shape;170;p23"/>
          <p:cNvSpPr txBox="1"/>
          <p:nvPr/>
        </p:nvSpPr>
        <p:spPr>
          <a:xfrm>
            <a:off x="6940950" y="2600500"/>
            <a:ext cx="1056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1 : 2 : 1 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467EDD4-D262-5FC0-DF74-CF32DB220C12}"/>
              </a:ext>
            </a:extLst>
          </p:cNvPr>
          <p:cNvSpPr/>
          <p:nvPr/>
        </p:nvSpPr>
        <p:spPr>
          <a:xfrm>
            <a:off x="0" y="4702929"/>
            <a:ext cx="9144000" cy="44340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</a:pPr>
            <a:r>
              <a:rPr lang="en-US" dirty="0">
                <a:solidFill>
                  <a:schemeClr val="bg1"/>
                </a:solidFill>
              </a:rPr>
              <a:t>Data Preprocessing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4"/>
          <p:cNvSpPr txBox="1">
            <a:spLocks noGrp="1"/>
          </p:cNvSpPr>
          <p:nvPr>
            <p:ph type="title"/>
          </p:nvPr>
        </p:nvSpPr>
        <p:spPr>
          <a:xfrm>
            <a:off x="457200" y="522685"/>
            <a:ext cx="8229600" cy="801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</a:t>
            </a:r>
            <a:endParaRPr/>
          </a:p>
        </p:txBody>
      </p:sp>
      <p:pic>
        <p:nvPicPr>
          <p:cNvPr id="176" name="Google Shape;176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476385"/>
            <a:ext cx="8839201" cy="3103912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0DDCBBA5-35E5-CB4F-EF12-1CA6114A0EBA}"/>
              </a:ext>
            </a:extLst>
          </p:cNvPr>
          <p:cNvSpPr/>
          <p:nvPr/>
        </p:nvSpPr>
        <p:spPr>
          <a:xfrm>
            <a:off x="0" y="4702929"/>
            <a:ext cx="9144000" cy="44340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</a:pPr>
            <a:r>
              <a:rPr lang="en-US" dirty="0">
                <a:solidFill>
                  <a:schemeClr val="bg1"/>
                </a:solidFill>
              </a:rPr>
              <a:t>Data Preprocessing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7"/>
          <p:cNvSpPr txBox="1">
            <a:spLocks noGrp="1"/>
          </p:cNvSpPr>
          <p:nvPr>
            <p:ph type="title"/>
          </p:nvPr>
        </p:nvSpPr>
        <p:spPr>
          <a:xfrm>
            <a:off x="457200" y="522685"/>
            <a:ext cx="8229600" cy="801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Preprocessing</a:t>
            </a:r>
            <a:endParaRPr/>
          </a:p>
        </p:txBody>
      </p:sp>
      <p:pic>
        <p:nvPicPr>
          <p:cNvPr id="195" name="Google Shape;195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04575" y="719175"/>
            <a:ext cx="3065300" cy="3929225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27"/>
          <p:cNvSpPr txBox="1"/>
          <p:nvPr/>
        </p:nvSpPr>
        <p:spPr>
          <a:xfrm>
            <a:off x="467591" y="1183415"/>
            <a:ext cx="5015700" cy="343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 dirty="0"/>
              <a:t>Manipulating Data (rows)</a:t>
            </a:r>
            <a:endParaRPr sz="2400" dirty="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 dirty="0"/>
              <a:t>Sampling</a:t>
            </a:r>
            <a:endParaRPr sz="1800" dirty="0"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 dirty="0">
                <a:solidFill>
                  <a:schemeClr val="dk1"/>
                </a:solidFill>
              </a:rPr>
              <a:t>Manipulating Values</a:t>
            </a:r>
            <a:endParaRPr sz="1800" dirty="0">
              <a:solidFill>
                <a:schemeClr val="dk1"/>
              </a:solidFill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</a:pPr>
            <a:r>
              <a:rPr lang="en" sz="1800" dirty="0">
                <a:solidFill>
                  <a:schemeClr val="dk2"/>
                </a:solidFill>
              </a:rPr>
              <a:t>Discretization</a:t>
            </a:r>
            <a:endParaRPr sz="2400" dirty="0">
              <a:solidFill>
                <a:schemeClr val="dk2"/>
              </a:solidFill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 dirty="0"/>
              <a:t>Normalization</a:t>
            </a:r>
            <a:endParaRPr sz="1800" dirty="0"/>
          </a:p>
          <a:p>
            <a:pPr marL="9144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 dirty="0">
                <a:solidFill>
                  <a:schemeClr val="dk1"/>
                </a:solidFill>
              </a:rPr>
              <a:t>Manipulating Feature (columns)</a:t>
            </a:r>
            <a:endParaRPr sz="2400" dirty="0">
              <a:solidFill>
                <a:schemeClr val="dk1"/>
              </a:solidFill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" sz="1800" dirty="0">
                <a:solidFill>
                  <a:schemeClr val="dk1"/>
                </a:solidFill>
              </a:rPr>
              <a:t>Dimensionality Reduction</a:t>
            </a:r>
            <a:endParaRPr sz="1800" dirty="0">
              <a:solidFill>
                <a:schemeClr val="dk1"/>
              </a:solidFill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" sz="1800" dirty="0">
                <a:solidFill>
                  <a:schemeClr val="dk1"/>
                </a:solidFill>
              </a:rPr>
              <a:t>Feature Selection</a:t>
            </a:r>
            <a:endParaRPr sz="1800" dirty="0">
              <a:solidFill>
                <a:schemeClr val="dk1"/>
              </a:solidFill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" sz="1800" dirty="0">
                <a:solidFill>
                  <a:schemeClr val="dk1"/>
                </a:solidFill>
              </a:rPr>
              <a:t>Feature Creation</a:t>
            </a:r>
            <a:endParaRPr sz="18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1FE0DEA-D0DC-D355-8F49-F2E122533E81}"/>
              </a:ext>
            </a:extLst>
          </p:cNvPr>
          <p:cNvSpPr/>
          <p:nvPr/>
        </p:nvSpPr>
        <p:spPr>
          <a:xfrm>
            <a:off x="0" y="4702929"/>
            <a:ext cx="9144000" cy="44340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</a:pPr>
            <a:r>
              <a:rPr lang="en-US" dirty="0">
                <a:solidFill>
                  <a:schemeClr val="bg1"/>
                </a:solidFill>
              </a:rPr>
              <a:t>Data Preprocessing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8"/>
          <p:cNvSpPr txBox="1">
            <a:spLocks noGrp="1"/>
          </p:cNvSpPr>
          <p:nvPr>
            <p:ph type="title"/>
          </p:nvPr>
        </p:nvSpPr>
        <p:spPr>
          <a:xfrm>
            <a:off x="457200" y="522685"/>
            <a:ext cx="8229600" cy="801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Discretization</a:t>
            </a:r>
            <a:endParaRPr/>
          </a:p>
        </p:txBody>
      </p:sp>
      <p:sp>
        <p:nvSpPr>
          <p:cNvPr id="202" name="Google Shape;202;p28"/>
          <p:cNvSpPr txBox="1"/>
          <p:nvPr/>
        </p:nvSpPr>
        <p:spPr>
          <a:xfrm>
            <a:off x="919050" y="1435025"/>
            <a:ext cx="7110300" cy="30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/>
              <a:t>Discretization is the process of converting a continuous (Interval, Ratio) </a:t>
            </a:r>
            <a:r>
              <a:rPr lang="en-US" sz="2400" dirty="0"/>
              <a:t>feature</a:t>
            </a:r>
            <a:r>
              <a:rPr lang="en" sz="2400" dirty="0"/>
              <a:t> into an </a:t>
            </a:r>
            <a:r>
              <a:rPr lang="en" sz="2400" b="1" dirty="0"/>
              <a:t>ordinal </a:t>
            </a:r>
            <a:r>
              <a:rPr lang="en-US" sz="2400" dirty="0"/>
              <a:t>feature</a:t>
            </a:r>
            <a:endParaRPr sz="2400"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 dirty="0"/>
              <a:t>A potentially infinite number of values are mapped into a small number of categories</a:t>
            </a:r>
            <a:endParaRPr sz="1800"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 dirty="0"/>
              <a:t>Discretization is commonly used in classification</a:t>
            </a:r>
            <a:endParaRPr sz="1800"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 dirty="0"/>
              <a:t>Many classification algorithms work best if both the independent and dependent variables have only a few values</a:t>
            </a:r>
            <a:endParaRPr sz="18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B1CD49B-56A2-76CC-6937-D48B827D7B12}"/>
              </a:ext>
            </a:extLst>
          </p:cNvPr>
          <p:cNvSpPr/>
          <p:nvPr/>
        </p:nvSpPr>
        <p:spPr>
          <a:xfrm>
            <a:off x="0" y="4702929"/>
            <a:ext cx="9144000" cy="44340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</a:pPr>
            <a:r>
              <a:rPr lang="en-US" dirty="0">
                <a:solidFill>
                  <a:schemeClr val="bg1"/>
                </a:solidFill>
              </a:rPr>
              <a:t>Data Preprocessing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9"/>
          <p:cNvSpPr txBox="1">
            <a:spLocks noGrp="1"/>
          </p:cNvSpPr>
          <p:nvPr>
            <p:ph type="title"/>
          </p:nvPr>
        </p:nvSpPr>
        <p:spPr>
          <a:xfrm>
            <a:off x="457200" y="522685"/>
            <a:ext cx="8229600" cy="801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Types of </a:t>
            </a:r>
            <a:r>
              <a:rPr lang="en-US" dirty="0"/>
              <a:t>feature</a:t>
            </a:r>
            <a:r>
              <a:rPr lang="en" dirty="0"/>
              <a:t>s</a:t>
            </a:r>
            <a:endParaRPr dirty="0"/>
          </a:p>
        </p:txBody>
      </p:sp>
      <p:sp>
        <p:nvSpPr>
          <p:cNvPr id="208" name="Google Shape;208;p29"/>
          <p:cNvSpPr txBox="1"/>
          <p:nvPr/>
        </p:nvSpPr>
        <p:spPr>
          <a:xfrm>
            <a:off x="457200" y="1435025"/>
            <a:ext cx="8007600" cy="32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2400" b="1"/>
              <a:t>Nominal</a:t>
            </a:r>
            <a:endParaRPr sz="2400" b="1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Examples: ID numbers, eye color, zip codes</a:t>
            </a:r>
            <a:endParaRPr sz="180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2400" b="1"/>
              <a:t>Ordinal</a:t>
            </a:r>
            <a:endParaRPr sz="2400" b="1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Examples: rankings (e.g., taste of potato chips on a scale from 1-10), grades, height {tall, medium, short}</a:t>
            </a:r>
            <a:endParaRPr sz="180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2400" b="1"/>
              <a:t>Interval</a:t>
            </a:r>
            <a:endParaRPr sz="2400" b="1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Examples: calendar dates, temperatures in Celsius or Fahrenheit.</a:t>
            </a:r>
            <a:endParaRPr sz="180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2400" b="1"/>
              <a:t>Ratio</a:t>
            </a:r>
            <a:endParaRPr sz="2400" b="1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Examples: temperature in Kelvin, length, counts, elapsed time (e.g., time to run a race) </a:t>
            </a:r>
            <a:endParaRPr sz="180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850C16B-1AA2-6976-AD2B-0DEA580D6F54}"/>
              </a:ext>
            </a:extLst>
          </p:cNvPr>
          <p:cNvSpPr/>
          <p:nvPr/>
        </p:nvSpPr>
        <p:spPr>
          <a:xfrm>
            <a:off x="0" y="4702929"/>
            <a:ext cx="9144000" cy="44340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</a:pPr>
            <a:r>
              <a:rPr lang="en-US" dirty="0">
                <a:solidFill>
                  <a:schemeClr val="bg1"/>
                </a:solidFill>
              </a:rPr>
              <a:t>Data Preprocessing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30"/>
          <p:cNvSpPr txBox="1">
            <a:spLocks noGrp="1"/>
          </p:cNvSpPr>
          <p:nvPr>
            <p:ph type="title"/>
          </p:nvPr>
        </p:nvSpPr>
        <p:spPr>
          <a:xfrm>
            <a:off x="457200" y="522685"/>
            <a:ext cx="8229600" cy="801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Types of </a:t>
            </a:r>
            <a:r>
              <a:rPr lang="en-US" dirty="0"/>
              <a:t>feature</a:t>
            </a:r>
            <a:r>
              <a:rPr lang="en" dirty="0"/>
              <a:t>s</a:t>
            </a:r>
            <a:endParaRPr dirty="0"/>
          </a:p>
        </p:txBody>
      </p:sp>
      <p:sp>
        <p:nvSpPr>
          <p:cNvPr id="214" name="Google Shape;214;p30"/>
          <p:cNvSpPr txBox="1"/>
          <p:nvPr/>
        </p:nvSpPr>
        <p:spPr>
          <a:xfrm>
            <a:off x="457200" y="1309519"/>
            <a:ext cx="8007600" cy="32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 b="1" dirty="0"/>
              <a:t>Distinctness</a:t>
            </a:r>
            <a:r>
              <a:rPr lang="en" sz="1800" dirty="0"/>
              <a:t>:  					=  		</a:t>
            </a:r>
            <a:endParaRPr sz="1800"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 b="1" dirty="0"/>
              <a:t>Order</a:t>
            </a:r>
            <a:r>
              <a:rPr lang="en" sz="1800" dirty="0"/>
              <a:t>:  							&lt;  &gt;  		</a:t>
            </a:r>
            <a:endParaRPr sz="1800"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 b="1" dirty="0"/>
              <a:t>Differences</a:t>
            </a:r>
            <a:r>
              <a:rPr lang="en" sz="1800" dirty="0"/>
              <a:t> are </a:t>
            </a:r>
            <a:r>
              <a:rPr lang="en" sz="1800" dirty="0">
                <a:solidFill>
                  <a:schemeClr val="dk1"/>
                </a:solidFill>
              </a:rPr>
              <a:t>meaningful :</a:t>
            </a:r>
            <a:r>
              <a:rPr lang="en" sz="1800" dirty="0"/>
              <a:t>		+  - 		</a:t>
            </a:r>
            <a:endParaRPr sz="1800"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 b="1" dirty="0"/>
              <a:t>Ratios</a:t>
            </a:r>
            <a:r>
              <a:rPr lang="en" sz="1800" dirty="0"/>
              <a:t> are </a:t>
            </a:r>
            <a:r>
              <a:rPr lang="en" sz="1800" dirty="0">
                <a:solidFill>
                  <a:schemeClr val="dk1"/>
                </a:solidFill>
              </a:rPr>
              <a:t>meaningful		</a:t>
            </a:r>
            <a:r>
              <a:rPr lang="en" sz="1800" dirty="0"/>
              <a:t>		 *  /</a:t>
            </a:r>
            <a:br>
              <a:rPr lang="en" sz="1800" dirty="0"/>
            </a:br>
            <a:endParaRPr sz="1800" dirty="0"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 b="1" dirty="0"/>
              <a:t>Nominal </a:t>
            </a:r>
            <a:r>
              <a:rPr lang="en-US" sz="1800" dirty="0"/>
              <a:t>feature</a:t>
            </a:r>
            <a:r>
              <a:rPr lang="en" sz="1800" dirty="0"/>
              <a:t>: 	distinctness</a:t>
            </a:r>
            <a:endParaRPr sz="1800"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 b="1" dirty="0"/>
              <a:t>Ordinal </a:t>
            </a:r>
            <a:r>
              <a:rPr lang="en-US" sz="1800" dirty="0"/>
              <a:t>feature</a:t>
            </a:r>
            <a:r>
              <a:rPr lang="en" sz="1800" dirty="0"/>
              <a:t>: 		distinctness &amp; order</a:t>
            </a:r>
            <a:endParaRPr sz="1800"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 b="1" dirty="0"/>
              <a:t>Interval </a:t>
            </a:r>
            <a:r>
              <a:rPr lang="en-US" sz="1800" dirty="0"/>
              <a:t>feature</a:t>
            </a:r>
            <a:r>
              <a:rPr lang="en" sz="1800" dirty="0"/>
              <a:t>: 	distinctness, order &amp; meaningful differences</a:t>
            </a:r>
            <a:endParaRPr sz="1800"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 b="1" dirty="0"/>
              <a:t>Ratio </a:t>
            </a:r>
            <a:r>
              <a:rPr lang="en-US" sz="1800" dirty="0"/>
              <a:t>feature</a:t>
            </a:r>
            <a:r>
              <a:rPr lang="en" sz="1800" dirty="0"/>
              <a:t>: 		all 4 properties/operations</a:t>
            </a:r>
            <a:endParaRPr sz="1800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DCCFE49-89AB-1AD8-94D8-78EA3E85BAFC}"/>
              </a:ext>
            </a:extLst>
          </p:cNvPr>
          <p:cNvSpPr/>
          <p:nvPr/>
        </p:nvSpPr>
        <p:spPr>
          <a:xfrm>
            <a:off x="0" y="4702929"/>
            <a:ext cx="9144000" cy="44340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</a:pPr>
            <a:r>
              <a:rPr lang="en-US" dirty="0">
                <a:solidFill>
                  <a:schemeClr val="bg1"/>
                </a:solidFill>
              </a:rPr>
              <a:t>Data Preprocessing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31"/>
          <p:cNvSpPr txBox="1">
            <a:spLocks noGrp="1"/>
          </p:cNvSpPr>
          <p:nvPr>
            <p:ph type="title"/>
          </p:nvPr>
        </p:nvSpPr>
        <p:spPr>
          <a:xfrm>
            <a:off x="457200" y="522685"/>
            <a:ext cx="8229600" cy="801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Discretization</a:t>
            </a:r>
            <a:endParaRPr/>
          </a:p>
        </p:txBody>
      </p:sp>
      <p:sp>
        <p:nvSpPr>
          <p:cNvPr id="220" name="Google Shape;220;p31"/>
          <p:cNvSpPr txBox="1"/>
          <p:nvPr/>
        </p:nvSpPr>
        <p:spPr>
          <a:xfrm>
            <a:off x="457200" y="1435025"/>
            <a:ext cx="4438800" cy="32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2400"/>
              <a:t>How can we tell what the best discretization is?</a:t>
            </a:r>
            <a:endParaRPr sz="240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 b="1"/>
              <a:t>Unsupervised </a:t>
            </a:r>
            <a:r>
              <a:rPr lang="en" sz="1800"/>
              <a:t>discretization: find breaks in the data values</a:t>
            </a:r>
            <a:endParaRPr sz="180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Example:</a:t>
            </a:r>
            <a:br>
              <a:rPr lang="en" sz="1800"/>
            </a:br>
            <a:r>
              <a:rPr lang="en" sz="1800"/>
              <a:t>Petal Length </a:t>
            </a:r>
            <a:endParaRPr sz="1800"/>
          </a:p>
          <a:p>
            <a:pPr marL="9144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  <a:p>
            <a:pPr marL="9144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 b="1"/>
              <a:t>Supervised </a:t>
            </a:r>
            <a:r>
              <a:rPr lang="en" sz="1800"/>
              <a:t>discretization: Use class labels to find breaks </a:t>
            </a:r>
            <a:endParaRPr sz="1800"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pic>
        <p:nvPicPr>
          <p:cNvPr id="221" name="Google Shape;221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95850" y="1366625"/>
            <a:ext cx="4248150" cy="32004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21B7A465-5396-479F-7C62-2EB4032EDB9A}"/>
              </a:ext>
            </a:extLst>
          </p:cNvPr>
          <p:cNvSpPr/>
          <p:nvPr/>
        </p:nvSpPr>
        <p:spPr>
          <a:xfrm>
            <a:off x="0" y="4710017"/>
            <a:ext cx="9144000" cy="44340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</a:pPr>
            <a:r>
              <a:rPr lang="en-US" dirty="0">
                <a:solidFill>
                  <a:schemeClr val="bg1"/>
                </a:solidFill>
              </a:rPr>
              <a:t>Data Preprocessing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2"/>
          <p:cNvSpPr txBox="1">
            <a:spLocks noGrp="1"/>
          </p:cNvSpPr>
          <p:nvPr>
            <p:ph type="title"/>
          </p:nvPr>
        </p:nvSpPr>
        <p:spPr>
          <a:xfrm>
            <a:off x="457200" y="522685"/>
            <a:ext cx="8229600" cy="801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Unsupervised Discretization</a:t>
            </a:r>
            <a:endParaRPr/>
          </a:p>
        </p:txBody>
      </p:sp>
      <p:pic>
        <p:nvPicPr>
          <p:cNvPr id="227" name="Google Shape;227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47813" y="1218410"/>
            <a:ext cx="6248383" cy="351471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7568CD7B-01FC-FCA1-5C0E-BBC60B15E4A2}"/>
              </a:ext>
            </a:extLst>
          </p:cNvPr>
          <p:cNvSpPr/>
          <p:nvPr/>
        </p:nvSpPr>
        <p:spPr>
          <a:xfrm>
            <a:off x="0" y="4702929"/>
            <a:ext cx="9144000" cy="44340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</a:pPr>
            <a:r>
              <a:rPr lang="en-US" dirty="0">
                <a:solidFill>
                  <a:schemeClr val="bg1"/>
                </a:solidFill>
              </a:rPr>
              <a:t>Data Preprocessing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33"/>
          <p:cNvSpPr txBox="1">
            <a:spLocks noGrp="1"/>
          </p:cNvSpPr>
          <p:nvPr>
            <p:ph type="title"/>
          </p:nvPr>
        </p:nvSpPr>
        <p:spPr>
          <a:xfrm>
            <a:off x="457200" y="522685"/>
            <a:ext cx="8229600" cy="801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Unsupervised Discretization</a:t>
            </a:r>
            <a:endParaRPr/>
          </a:p>
        </p:txBody>
      </p:sp>
      <p:pic>
        <p:nvPicPr>
          <p:cNvPr id="233" name="Google Shape;233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16000" y="1218410"/>
            <a:ext cx="6312009" cy="351471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88FEAC39-B687-20F9-8762-3FF913F8CBE4}"/>
              </a:ext>
            </a:extLst>
          </p:cNvPr>
          <p:cNvSpPr/>
          <p:nvPr/>
        </p:nvSpPr>
        <p:spPr>
          <a:xfrm>
            <a:off x="0" y="4702929"/>
            <a:ext cx="9144000" cy="44340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</a:pPr>
            <a:r>
              <a:rPr lang="en-US" dirty="0">
                <a:solidFill>
                  <a:schemeClr val="bg1"/>
                </a:solidFill>
              </a:rPr>
              <a:t>Data Preprocessing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4"/>
          <p:cNvSpPr txBox="1">
            <a:spLocks noGrp="1"/>
          </p:cNvSpPr>
          <p:nvPr>
            <p:ph type="title"/>
          </p:nvPr>
        </p:nvSpPr>
        <p:spPr>
          <a:xfrm>
            <a:off x="457200" y="522685"/>
            <a:ext cx="8229600" cy="801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Unsupervised Discretization</a:t>
            </a:r>
            <a:endParaRPr/>
          </a:p>
        </p:txBody>
      </p:sp>
      <p:pic>
        <p:nvPicPr>
          <p:cNvPr id="239" name="Google Shape;239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32450" y="1218410"/>
            <a:ext cx="6279099" cy="351471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30416B85-8BCD-4E71-D688-22EC07E296D3}"/>
              </a:ext>
            </a:extLst>
          </p:cNvPr>
          <p:cNvSpPr/>
          <p:nvPr/>
        </p:nvSpPr>
        <p:spPr>
          <a:xfrm>
            <a:off x="0" y="4702929"/>
            <a:ext cx="9144000" cy="44340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</a:pPr>
            <a:r>
              <a:rPr lang="en-US" dirty="0">
                <a:solidFill>
                  <a:schemeClr val="bg1"/>
                </a:solidFill>
              </a:rPr>
              <a:t>Data Preprocessing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35"/>
          <p:cNvSpPr txBox="1">
            <a:spLocks noGrp="1"/>
          </p:cNvSpPr>
          <p:nvPr>
            <p:ph type="title"/>
          </p:nvPr>
        </p:nvSpPr>
        <p:spPr>
          <a:xfrm>
            <a:off x="457200" y="522685"/>
            <a:ext cx="8229600" cy="801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Unsupervised Discretization</a:t>
            </a:r>
            <a:endParaRPr/>
          </a:p>
        </p:txBody>
      </p:sp>
      <p:pic>
        <p:nvPicPr>
          <p:cNvPr id="245" name="Google Shape;245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12700" y="1218385"/>
            <a:ext cx="6318590" cy="351471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0E06F768-557B-EFF5-4C28-89650F6F2B62}"/>
              </a:ext>
            </a:extLst>
          </p:cNvPr>
          <p:cNvSpPr/>
          <p:nvPr/>
        </p:nvSpPr>
        <p:spPr>
          <a:xfrm>
            <a:off x="0" y="4702929"/>
            <a:ext cx="9144000" cy="44340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</a:pPr>
            <a:r>
              <a:rPr lang="en-US" dirty="0">
                <a:solidFill>
                  <a:schemeClr val="bg1"/>
                </a:solidFill>
              </a:rPr>
              <a:t>Data Preprocessing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36"/>
          <p:cNvSpPr txBox="1">
            <a:spLocks noGrp="1"/>
          </p:cNvSpPr>
          <p:nvPr>
            <p:ph type="title"/>
          </p:nvPr>
        </p:nvSpPr>
        <p:spPr>
          <a:xfrm>
            <a:off x="457200" y="522685"/>
            <a:ext cx="8229600" cy="801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Supervised Discretization</a:t>
            </a:r>
            <a:endParaRPr/>
          </a:p>
        </p:txBody>
      </p:sp>
      <p:pic>
        <p:nvPicPr>
          <p:cNvPr id="251" name="Google Shape;251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12700" y="1218385"/>
            <a:ext cx="6318590" cy="3514716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36"/>
          <p:cNvSpPr txBox="1"/>
          <p:nvPr/>
        </p:nvSpPr>
        <p:spPr>
          <a:xfrm>
            <a:off x="1345050" y="4249500"/>
            <a:ext cx="6191400" cy="48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highlight>
                  <a:schemeClr val="lt1"/>
                </a:highlight>
              </a:rPr>
              <a:t>Use entropy to find the best splits, like in decision trees.</a:t>
            </a:r>
            <a:endParaRPr sz="1800">
              <a:highlight>
                <a:schemeClr val="lt1"/>
              </a:highlight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98ED519-6FE9-998E-8833-7940F99AAF6C}"/>
              </a:ext>
            </a:extLst>
          </p:cNvPr>
          <p:cNvSpPr/>
          <p:nvPr/>
        </p:nvSpPr>
        <p:spPr>
          <a:xfrm>
            <a:off x="0" y="4702929"/>
            <a:ext cx="9144000" cy="44340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</a:pPr>
            <a:r>
              <a:rPr lang="en-US" dirty="0">
                <a:solidFill>
                  <a:schemeClr val="bg1"/>
                </a:solidFill>
              </a:rPr>
              <a:t>Data Preprocessing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37"/>
          <p:cNvSpPr txBox="1">
            <a:spLocks noGrp="1"/>
          </p:cNvSpPr>
          <p:nvPr>
            <p:ph type="title"/>
          </p:nvPr>
        </p:nvSpPr>
        <p:spPr>
          <a:xfrm>
            <a:off x="457200" y="522685"/>
            <a:ext cx="8229600" cy="801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Preprocessing</a:t>
            </a:r>
            <a:endParaRPr/>
          </a:p>
        </p:txBody>
      </p:sp>
      <p:pic>
        <p:nvPicPr>
          <p:cNvPr id="258" name="Google Shape;258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04575" y="719175"/>
            <a:ext cx="3065300" cy="3929225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37"/>
          <p:cNvSpPr txBox="1"/>
          <p:nvPr/>
        </p:nvSpPr>
        <p:spPr>
          <a:xfrm>
            <a:off x="457200" y="1095375"/>
            <a:ext cx="5015700" cy="343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 dirty="0"/>
              <a:t>Manipulating Data (rows)</a:t>
            </a:r>
            <a:endParaRPr sz="2400" dirty="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 dirty="0"/>
              <a:t>Sampling</a:t>
            </a:r>
            <a:endParaRPr sz="1800" dirty="0"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 dirty="0">
                <a:solidFill>
                  <a:schemeClr val="dk1"/>
                </a:solidFill>
              </a:rPr>
              <a:t>Manipulating Values</a:t>
            </a:r>
            <a:endParaRPr sz="1800" dirty="0">
              <a:solidFill>
                <a:schemeClr val="dk1"/>
              </a:solidFill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" sz="1800" dirty="0">
                <a:solidFill>
                  <a:schemeClr val="dk1"/>
                </a:solidFill>
              </a:rPr>
              <a:t>Discretization</a:t>
            </a:r>
            <a:endParaRPr sz="2400" dirty="0">
              <a:solidFill>
                <a:schemeClr val="dk1"/>
              </a:solidFill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</a:pPr>
            <a:r>
              <a:rPr lang="en" sz="1800" dirty="0">
                <a:solidFill>
                  <a:schemeClr val="dk2"/>
                </a:solidFill>
              </a:rPr>
              <a:t>Normalization</a:t>
            </a:r>
            <a:endParaRPr sz="1800" dirty="0">
              <a:solidFill>
                <a:schemeClr val="dk2"/>
              </a:solidFill>
            </a:endParaRPr>
          </a:p>
          <a:p>
            <a:pPr marL="9144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 dirty="0">
                <a:solidFill>
                  <a:schemeClr val="dk1"/>
                </a:solidFill>
              </a:rPr>
              <a:t>Manipulating Feature (columns)</a:t>
            </a:r>
            <a:endParaRPr sz="2400" dirty="0">
              <a:solidFill>
                <a:schemeClr val="dk1"/>
              </a:solidFill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" sz="1800" dirty="0">
                <a:solidFill>
                  <a:schemeClr val="dk1"/>
                </a:solidFill>
              </a:rPr>
              <a:t>Dimensionality Reduction</a:t>
            </a:r>
            <a:endParaRPr sz="1800" dirty="0">
              <a:solidFill>
                <a:schemeClr val="dk1"/>
              </a:solidFill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" sz="1800" dirty="0">
                <a:solidFill>
                  <a:schemeClr val="dk1"/>
                </a:solidFill>
              </a:rPr>
              <a:t>Feature Selection</a:t>
            </a:r>
            <a:endParaRPr sz="1800" dirty="0">
              <a:solidFill>
                <a:schemeClr val="dk1"/>
              </a:solidFill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" sz="1800" dirty="0">
                <a:solidFill>
                  <a:schemeClr val="dk1"/>
                </a:solidFill>
              </a:rPr>
              <a:t>Feature Creation</a:t>
            </a:r>
            <a:endParaRPr sz="18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31AEE87-2827-40B7-1948-8CF85E489EBF}"/>
              </a:ext>
            </a:extLst>
          </p:cNvPr>
          <p:cNvSpPr/>
          <p:nvPr/>
        </p:nvSpPr>
        <p:spPr>
          <a:xfrm>
            <a:off x="0" y="4702929"/>
            <a:ext cx="9144000" cy="44340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</a:pPr>
            <a:r>
              <a:rPr lang="en-US" dirty="0">
                <a:solidFill>
                  <a:schemeClr val="bg1"/>
                </a:solidFill>
              </a:rPr>
              <a:t>Data Preprocessing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38"/>
          <p:cNvSpPr txBox="1">
            <a:spLocks noGrp="1"/>
          </p:cNvSpPr>
          <p:nvPr>
            <p:ph type="title"/>
          </p:nvPr>
        </p:nvSpPr>
        <p:spPr>
          <a:xfrm>
            <a:off x="457200" y="522685"/>
            <a:ext cx="8229600" cy="801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Normalization</a:t>
            </a:r>
            <a:endParaRPr/>
          </a:p>
        </p:txBody>
      </p:sp>
      <p:sp>
        <p:nvSpPr>
          <p:cNvPr id="265" name="Google Shape;265;p38"/>
          <p:cNvSpPr txBox="1"/>
          <p:nvPr/>
        </p:nvSpPr>
        <p:spPr>
          <a:xfrm>
            <a:off x="457200" y="1693000"/>
            <a:ext cx="5169900" cy="280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Make all features of the same scale (</a:t>
            </a:r>
            <a:r>
              <a:rPr lang="en" sz="2400" b="1"/>
              <a:t>normalize columns</a:t>
            </a:r>
            <a:r>
              <a:rPr lang="en" sz="2400"/>
              <a:t>)</a:t>
            </a:r>
            <a:endParaRPr sz="2400"/>
          </a:p>
          <a:p>
            <a:pPr marL="9144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  <a:p>
            <a:pPr marL="9144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Make each feature vector of unit length (</a:t>
            </a:r>
            <a:r>
              <a:rPr lang="en" sz="2400" b="1"/>
              <a:t>normalize rows</a:t>
            </a:r>
            <a:r>
              <a:rPr lang="en" sz="2400"/>
              <a:t>)</a:t>
            </a:r>
            <a:endParaRPr sz="2400"/>
          </a:p>
          <a:p>
            <a:pPr marL="9144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pic>
        <p:nvPicPr>
          <p:cNvPr id="266" name="Google Shape;266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04575" y="719175"/>
            <a:ext cx="3065300" cy="392922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1D9AA6B5-270F-94DE-0B1A-136C1A3379E7}"/>
              </a:ext>
            </a:extLst>
          </p:cNvPr>
          <p:cNvSpPr/>
          <p:nvPr/>
        </p:nvSpPr>
        <p:spPr>
          <a:xfrm>
            <a:off x="0" y="4702929"/>
            <a:ext cx="9144000" cy="44340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</a:pPr>
            <a:r>
              <a:rPr lang="en-US" dirty="0">
                <a:solidFill>
                  <a:schemeClr val="bg1"/>
                </a:solidFill>
              </a:rPr>
              <a:t>Data Preprocessing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39"/>
          <p:cNvSpPr txBox="1">
            <a:spLocks noGrp="1"/>
          </p:cNvSpPr>
          <p:nvPr>
            <p:ph type="title"/>
          </p:nvPr>
        </p:nvSpPr>
        <p:spPr>
          <a:xfrm>
            <a:off x="457188" y="499235"/>
            <a:ext cx="8229600" cy="801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Normalize?</a:t>
            </a:r>
            <a:endParaRPr/>
          </a:p>
        </p:txBody>
      </p:sp>
      <p:sp>
        <p:nvSpPr>
          <p:cNvPr id="272" name="Google Shape;272;p39"/>
          <p:cNvSpPr txBox="1"/>
          <p:nvPr/>
        </p:nvSpPr>
        <p:spPr>
          <a:xfrm>
            <a:off x="1621325" y="1896475"/>
            <a:ext cx="6080100" cy="26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 dirty="0">
                <a:solidFill>
                  <a:schemeClr val="dk1"/>
                </a:solidFill>
              </a:rPr>
              <a:t>Feature</a:t>
            </a:r>
            <a:r>
              <a:rPr lang="en" sz="1800" dirty="0">
                <a:solidFill>
                  <a:schemeClr val="dk1"/>
                </a:solidFill>
              </a:rPr>
              <a:t>s may have to be scaled to prevent distance measures from being dominated by one of the </a:t>
            </a:r>
            <a:r>
              <a:rPr lang="en-US" sz="1800" dirty="0">
                <a:solidFill>
                  <a:schemeClr val="dk1"/>
                </a:solidFill>
              </a:rPr>
              <a:t>feature</a:t>
            </a:r>
            <a:r>
              <a:rPr lang="en" sz="1800" dirty="0">
                <a:solidFill>
                  <a:schemeClr val="dk1"/>
                </a:solidFill>
              </a:rPr>
              <a:t>s</a:t>
            </a:r>
            <a:endParaRPr sz="1800" dirty="0">
              <a:solidFill>
                <a:schemeClr val="dk1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 dirty="0"/>
              <a:t>Example:</a:t>
            </a:r>
            <a:endParaRPr sz="1800" dirty="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 dirty="0"/>
              <a:t>height of a person may vary from 1.5 m to 1.8 m</a:t>
            </a:r>
            <a:endParaRPr sz="1800" dirty="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 dirty="0"/>
              <a:t>weight of a person may vary from 90 </a:t>
            </a:r>
            <a:r>
              <a:rPr lang="en" sz="1800" dirty="0" err="1"/>
              <a:t>lb</a:t>
            </a:r>
            <a:r>
              <a:rPr lang="en" sz="1800" dirty="0"/>
              <a:t> to 300 </a:t>
            </a:r>
            <a:r>
              <a:rPr lang="en" sz="1800" dirty="0" err="1"/>
              <a:t>lb</a:t>
            </a:r>
            <a:endParaRPr sz="1800" dirty="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 dirty="0"/>
              <a:t>income of a person may vary from $10K to $1M</a:t>
            </a:r>
            <a:endParaRPr sz="1800" dirty="0"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D94087C-1999-FAD9-86F4-81832C937786}"/>
              </a:ext>
            </a:extLst>
          </p:cNvPr>
          <p:cNvSpPr/>
          <p:nvPr/>
        </p:nvSpPr>
        <p:spPr>
          <a:xfrm>
            <a:off x="0" y="4702929"/>
            <a:ext cx="9144000" cy="44340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</a:pPr>
            <a:r>
              <a:rPr lang="en-US" dirty="0">
                <a:solidFill>
                  <a:schemeClr val="bg1"/>
                </a:solidFill>
              </a:rPr>
              <a:t>Data Preprocessing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40"/>
          <p:cNvSpPr txBox="1">
            <a:spLocks noGrp="1"/>
          </p:cNvSpPr>
          <p:nvPr>
            <p:ph type="title"/>
          </p:nvPr>
        </p:nvSpPr>
        <p:spPr>
          <a:xfrm>
            <a:off x="457200" y="522685"/>
            <a:ext cx="8229600" cy="801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Normalization</a:t>
            </a:r>
            <a:endParaRPr/>
          </a:p>
        </p:txBody>
      </p:sp>
      <p:sp>
        <p:nvSpPr>
          <p:cNvPr id="278" name="Google Shape;278;p40"/>
          <p:cNvSpPr txBox="1"/>
          <p:nvPr/>
        </p:nvSpPr>
        <p:spPr>
          <a:xfrm>
            <a:off x="457200" y="1693000"/>
            <a:ext cx="7508100" cy="280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 dirty="0"/>
              <a:t>Standard score (based on normal distribution)</a:t>
            </a:r>
            <a:endParaRPr sz="2400" dirty="0"/>
          </a:p>
          <a:p>
            <a:pPr marL="9144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 dirty="0"/>
              <a:t>Min-Max Feature scaling</a:t>
            </a:r>
            <a:endParaRPr sz="2400" dirty="0"/>
          </a:p>
          <a:p>
            <a:pPr marL="9144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/>
          </a:p>
        </p:txBody>
      </p:sp>
      <p:pic>
        <p:nvPicPr>
          <p:cNvPr id="279" name="Google Shape;279;p40" descr="{\displaystyle X'={\frac {X-X_{\min }}{X_{\max }-X_{\min }}}}" title="MathEquation,#0000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41050" y="3772975"/>
            <a:ext cx="2218340" cy="63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0" name="Google Shape;280;p40" descr="X' = {\frac {X-\mu }{\sigma }}" title="MathEquation,#00000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10012" y="2441175"/>
            <a:ext cx="1280424" cy="4545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13A815D0-B59D-DD63-DAFE-41748A5FB532}"/>
              </a:ext>
            </a:extLst>
          </p:cNvPr>
          <p:cNvSpPr/>
          <p:nvPr/>
        </p:nvSpPr>
        <p:spPr>
          <a:xfrm>
            <a:off x="0" y="4702929"/>
            <a:ext cx="9144000" cy="44340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</a:pPr>
            <a:r>
              <a:rPr lang="en-US" dirty="0">
                <a:solidFill>
                  <a:schemeClr val="bg1"/>
                </a:solidFill>
              </a:rPr>
              <a:t>Data Preprocessing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41"/>
          <p:cNvSpPr txBox="1">
            <a:spLocks noGrp="1"/>
          </p:cNvSpPr>
          <p:nvPr>
            <p:ph type="title"/>
          </p:nvPr>
        </p:nvSpPr>
        <p:spPr>
          <a:xfrm>
            <a:off x="457200" y="522685"/>
            <a:ext cx="8229600" cy="801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Normalization</a:t>
            </a:r>
            <a:endParaRPr/>
          </a:p>
        </p:txBody>
      </p:sp>
      <p:sp>
        <p:nvSpPr>
          <p:cNvPr id="286" name="Google Shape;286;p41"/>
          <p:cNvSpPr txBox="1"/>
          <p:nvPr/>
        </p:nvSpPr>
        <p:spPr>
          <a:xfrm>
            <a:off x="457200" y="1616800"/>
            <a:ext cx="7508100" cy="280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L2 Normalization</a:t>
            </a:r>
            <a:endParaRPr sz="2400"/>
          </a:p>
          <a:p>
            <a:pPr marL="9144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L1 Normalization</a:t>
            </a:r>
            <a:endParaRPr sz="2400"/>
          </a:p>
          <a:p>
            <a:pPr marL="9144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pic>
        <p:nvPicPr>
          <p:cNvPr id="287" name="Google Shape;287;p41" descr="\vec{x}' = \frac{\vec{x} }{ ||\vec{x}||_2} = \frac{\vec{x} }{ \sqrt{\sum x_i^2}}" title="MathEquation,#0000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41163" y="2218925"/>
            <a:ext cx="2934550" cy="917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8" name="Google Shape;288;p41" descr="\vec{x}' = \frac{\vec{x} }{ ||\vec{x}||_1} = \frac{\vec{x} }{\sum |x_i|}" title="MathEquation,#00000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44875" y="3900425"/>
            <a:ext cx="2927120" cy="801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9" name="Google Shape;289;p41" descr="||\vec{x}'||_2 = 1" title="MathEquation,#00000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477613" y="1616800"/>
            <a:ext cx="1467274" cy="45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41" descr="||\vec{x}'||_1 = 1" title="MathEquation,#00000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477600" y="3362975"/>
            <a:ext cx="1467302" cy="45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91" name="Google Shape;291;p41"/>
          <p:cNvSpPr txBox="1"/>
          <p:nvPr/>
        </p:nvSpPr>
        <p:spPr>
          <a:xfrm>
            <a:off x="6031425" y="1678400"/>
            <a:ext cx="3064500" cy="251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X = [1,2,3,4]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sum_square = 1+4+9+16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L2_norm = sqrt(</a:t>
            </a:r>
            <a:r>
              <a:rPr lang="en">
                <a:solidFill>
                  <a:schemeClr val="dk1"/>
                </a:solidFill>
              </a:rPr>
              <a:t>sum_square</a:t>
            </a:r>
            <a:r>
              <a:rPr lang="en"/>
              <a:t>) = 5.48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X_norm = X / </a:t>
            </a:r>
            <a:r>
              <a:rPr lang="en">
                <a:solidFill>
                  <a:schemeClr val="dk1"/>
                </a:solidFill>
              </a:rPr>
              <a:t>L2_norm </a:t>
            </a:r>
            <a:r>
              <a:rPr lang="en"/>
              <a:t>= [1/5.48, 2/5.48, 3/5.48, 4/5.48]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sqrt(sum_square(X_norm)) = 1</a:t>
            </a:r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518771C-F36E-1CA9-CC2F-131A3628B272}"/>
              </a:ext>
            </a:extLst>
          </p:cNvPr>
          <p:cNvSpPr/>
          <p:nvPr/>
        </p:nvSpPr>
        <p:spPr>
          <a:xfrm>
            <a:off x="0" y="4702929"/>
            <a:ext cx="9144000" cy="44340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</a:pPr>
            <a:r>
              <a:rPr lang="en-US" dirty="0">
                <a:solidFill>
                  <a:schemeClr val="bg1"/>
                </a:solidFill>
              </a:rPr>
              <a:t>Data Preprocessing</a:t>
            </a:r>
          </a:p>
        </p:txBody>
      </p:sp>
    </p:spTree>
    <p:extLst>
      <p:ext uri="{BB962C8B-B14F-4D97-AF65-F5344CB8AC3E}">
        <p14:creationId xmlns:p14="http://schemas.microsoft.com/office/powerpoint/2010/main" val="14307364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2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2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2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2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42"/>
          <p:cNvSpPr txBox="1">
            <a:spLocks noGrp="1"/>
          </p:cNvSpPr>
          <p:nvPr>
            <p:ph type="title"/>
          </p:nvPr>
        </p:nvSpPr>
        <p:spPr>
          <a:xfrm>
            <a:off x="457200" y="522685"/>
            <a:ext cx="8229600" cy="801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L2 Normalization on Columns</a:t>
            </a:r>
            <a:endParaRPr/>
          </a:p>
        </p:txBody>
      </p:sp>
      <p:graphicFrame>
        <p:nvGraphicFramePr>
          <p:cNvPr id="297" name="Google Shape;297;p42"/>
          <p:cNvGraphicFramePr/>
          <p:nvPr/>
        </p:nvGraphicFramePr>
        <p:xfrm>
          <a:off x="952500" y="1696025"/>
          <a:ext cx="3054200" cy="118863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527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7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/>
                        <a:t>X1</a:t>
                      </a:r>
                      <a:endParaRPr b="1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/>
                        <a:t>X2</a:t>
                      </a:r>
                      <a:endParaRPr b="1"/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2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30</a:t>
                      </a:r>
                      <a:endParaRPr/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2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120</a:t>
                      </a:r>
                      <a:endParaRPr/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98" name="Google Shape;298;p42"/>
          <p:cNvGraphicFramePr/>
          <p:nvPr/>
        </p:nvGraphicFramePr>
        <p:xfrm>
          <a:off x="952500" y="3637050"/>
          <a:ext cx="3054200" cy="79242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527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7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/>
                        <a:t>X1</a:t>
                      </a:r>
                      <a:endParaRPr b="1"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/>
                        <a:t>X2</a:t>
                      </a:r>
                      <a:endParaRPr b="1"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2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L="91425" marR="91425" marT="91425" marB="91425" anchor="ctr"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100</a:t>
                      </a:r>
                      <a:endParaRPr/>
                    </a:p>
                  </a:txBody>
                  <a:tcPr marL="91425" marR="91425" marT="91425" marB="91425" anchor="ctr"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99" name="Google Shape;299;p42"/>
          <p:cNvSpPr txBox="1"/>
          <p:nvPr/>
        </p:nvSpPr>
        <p:spPr>
          <a:xfrm>
            <a:off x="1011725" y="1231050"/>
            <a:ext cx="2009400" cy="46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/>
              <a:t>Training</a:t>
            </a:r>
            <a:endParaRPr sz="2400" b="1"/>
          </a:p>
        </p:txBody>
      </p:sp>
      <p:sp>
        <p:nvSpPr>
          <p:cNvPr id="300" name="Google Shape;300;p42"/>
          <p:cNvSpPr txBox="1"/>
          <p:nvPr/>
        </p:nvSpPr>
        <p:spPr>
          <a:xfrm>
            <a:off x="1011725" y="3172050"/>
            <a:ext cx="2009400" cy="46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/>
              <a:t>Testing</a:t>
            </a:r>
            <a:endParaRPr sz="2400" b="1"/>
          </a:p>
        </p:txBody>
      </p:sp>
      <p:sp>
        <p:nvSpPr>
          <p:cNvPr id="301" name="Google Shape;301;p42"/>
          <p:cNvSpPr/>
          <p:nvPr/>
        </p:nvSpPr>
        <p:spPr>
          <a:xfrm>
            <a:off x="4280350" y="2058825"/>
            <a:ext cx="1174500" cy="5130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2" name="Google Shape;302;p42"/>
          <p:cNvSpPr/>
          <p:nvPr/>
        </p:nvSpPr>
        <p:spPr>
          <a:xfrm>
            <a:off x="4280350" y="3746475"/>
            <a:ext cx="1174500" cy="5130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aphicFrame>
        <p:nvGraphicFramePr>
          <p:cNvPr id="303" name="Google Shape;303;p42"/>
          <p:cNvGraphicFramePr/>
          <p:nvPr/>
        </p:nvGraphicFramePr>
        <p:xfrm>
          <a:off x="5590425" y="1722925"/>
          <a:ext cx="3054200" cy="118863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527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7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/>
                        <a:t>X1</a:t>
                      </a:r>
                      <a:endParaRPr b="1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/>
                        <a:t>X2</a:t>
                      </a:r>
                      <a:endParaRPr b="1"/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2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0.83</a:t>
                      </a:r>
                      <a:endParaRPr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0.24</a:t>
                      </a:r>
                      <a:endParaRPr/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2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0.55</a:t>
                      </a:r>
                      <a:endParaRPr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0.97</a:t>
                      </a:r>
                      <a:endParaRPr/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304" name="Google Shape;304;p42"/>
          <p:cNvGraphicFramePr/>
          <p:nvPr/>
        </p:nvGraphicFramePr>
        <p:xfrm>
          <a:off x="5590425" y="3637050"/>
          <a:ext cx="3054200" cy="79242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527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7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/>
                        <a:t>X1</a:t>
                      </a:r>
                      <a:endParaRPr b="1"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/>
                        <a:t>X2</a:t>
                      </a:r>
                      <a:endParaRPr b="1"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2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0.55</a:t>
                      </a:r>
                      <a:endParaRPr/>
                    </a:p>
                  </a:txBody>
                  <a:tcPr marL="91425" marR="91425" marT="91425" marB="91425" anchor="ctr"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0.81</a:t>
                      </a:r>
                      <a:endParaRPr/>
                    </a:p>
                  </a:txBody>
                  <a:tcPr marL="91425" marR="91425" marT="91425" marB="91425" anchor="ctr"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05" name="Google Shape;305;p42"/>
          <p:cNvSpPr txBox="1"/>
          <p:nvPr/>
        </p:nvSpPr>
        <p:spPr>
          <a:xfrm>
            <a:off x="4126475" y="1478625"/>
            <a:ext cx="1370700" cy="58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X1_norm = 3.6</a:t>
            </a:r>
            <a:endParaRPr sz="12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X2_norm = 123.7</a:t>
            </a:r>
            <a:endParaRPr sz="1200"/>
          </a:p>
        </p:txBody>
      </p:sp>
      <p:sp>
        <p:nvSpPr>
          <p:cNvPr id="306" name="Google Shape;306;p42"/>
          <p:cNvSpPr txBox="1"/>
          <p:nvPr/>
        </p:nvSpPr>
        <p:spPr>
          <a:xfrm>
            <a:off x="4126475" y="3007800"/>
            <a:ext cx="1370700" cy="58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X1_norm = 3.6</a:t>
            </a:r>
            <a:endParaRPr sz="12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X2_norm = 123.7</a:t>
            </a:r>
            <a:endParaRPr sz="120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081841C-36CA-AE64-287B-C4DD086EE688}"/>
              </a:ext>
            </a:extLst>
          </p:cNvPr>
          <p:cNvSpPr/>
          <p:nvPr/>
        </p:nvSpPr>
        <p:spPr>
          <a:xfrm>
            <a:off x="0" y="4702929"/>
            <a:ext cx="9144000" cy="44340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</a:pPr>
            <a:r>
              <a:rPr lang="en-US" dirty="0">
                <a:solidFill>
                  <a:schemeClr val="bg1"/>
                </a:solidFill>
              </a:rPr>
              <a:t>Data Preprocessing</a:t>
            </a:r>
          </a:p>
        </p:txBody>
      </p:sp>
    </p:spTree>
    <p:extLst>
      <p:ext uri="{BB962C8B-B14F-4D97-AF65-F5344CB8AC3E}">
        <p14:creationId xmlns:p14="http://schemas.microsoft.com/office/powerpoint/2010/main" val="6563686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44"/>
          <p:cNvSpPr txBox="1">
            <a:spLocks noGrp="1"/>
          </p:cNvSpPr>
          <p:nvPr>
            <p:ph type="title"/>
          </p:nvPr>
        </p:nvSpPr>
        <p:spPr>
          <a:xfrm>
            <a:off x="457200" y="522685"/>
            <a:ext cx="8229600" cy="801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L2 Normalization on Rows</a:t>
            </a:r>
            <a:endParaRPr/>
          </a:p>
        </p:txBody>
      </p:sp>
      <p:graphicFrame>
        <p:nvGraphicFramePr>
          <p:cNvPr id="324" name="Google Shape;324;p44"/>
          <p:cNvGraphicFramePr/>
          <p:nvPr/>
        </p:nvGraphicFramePr>
        <p:xfrm>
          <a:off x="952500" y="1696025"/>
          <a:ext cx="3054200" cy="118863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527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7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/>
                        <a:t>X1</a:t>
                      </a:r>
                      <a:endParaRPr b="1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/>
                        <a:t>X2</a:t>
                      </a:r>
                      <a:endParaRPr b="1"/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2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30</a:t>
                      </a:r>
                      <a:endParaRPr/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2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120</a:t>
                      </a:r>
                      <a:endParaRPr/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325" name="Google Shape;325;p44"/>
          <p:cNvGraphicFramePr/>
          <p:nvPr/>
        </p:nvGraphicFramePr>
        <p:xfrm>
          <a:off x="952500" y="3637050"/>
          <a:ext cx="3054200" cy="79242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527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7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/>
                        <a:t>X1</a:t>
                      </a:r>
                      <a:endParaRPr b="1"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/>
                        <a:t>X2</a:t>
                      </a:r>
                      <a:endParaRPr b="1"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2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L="91425" marR="91425" marT="91425" marB="91425" anchor="ctr"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100</a:t>
                      </a:r>
                      <a:endParaRPr/>
                    </a:p>
                  </a:txBody>
                  <a:tcPr marL="91425" marR="91425" marT="91425" marB="91425" anchor="ctr"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26" name="Google Shape;326;p44"/>
          <p:cNvSpPr txBox="1"/>
          <p:nvPr/>
        </p:nvSpPr>
        <p:spPr>
          <a:xfrm>
            <a:off x="1011725" y="1231050"/>
            <a:ext cx="2009400" cy="46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/>
              <a:t>Training</a:t>
            </a:r>
            <a:endParaRPr sz="2400" b="1"/>
          </a:p>
        </p:txBody>
      </p:sp>
      <p:sp>
        <p:nvSpPr>
          <p:cNvPr id="327" name="Google Shape;327;p44"/>
          <p:cNvSpPr txBox="1"/>
          <p:nvPr/>
        </p:nvSpPr>
        <p:spPr>
          <a:xfrm>
            <a:off x="1011725" y="3172050"/>
            <a:ext cx="2009400" cy="46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/>
              <a:t>Testing</a:t>
            </a:r>
            <a:endParaRPr sz="2400" b="1"/>
          </a:p>
        </p:txBody>
      </p:sp>
      <p:sp>
        <p:nvSpPr>
          <p:cNvPr id="328" name="Google Shape;328;p44"/>
          <p:cNvSpPr/>
          <p:nvPr/>
        </p:nvSpPr>
        <p:spPr>
          <a:xfrm>
            <a:off x="4280350" y="2058825"/>
            <a:ext cx="1174500" cy="5130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9" name="Google Shape;329;p44"/>
          <p:cNvSpPr/>
          <p:nvPr/>
        </p:nvSpPr>
        <p:spPr>
          <a:xfrm>
            <a:off x="4280350" y="3746475"/>
            <a:ext cx="1174500" cy="5130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aphicFrame>
        <p:nvGraphicFramePr>
          <p:cNvPr id="330" name="Google Shape;330;p44"/>
          <p:cNvGraphicFramePr/>
          <p:nvPr/>
        </p:nvGraphicFramePr>
        <p:xfrm>
          <a:off x="5590425" y="1722925"/>
          <a:ext cx="3054200" cy="118863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527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7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/>
                        <a:t>X1</a:t>
                      </a:r>
                      <a:endParaRPr b="1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/>
                        <a:t>X2</a:t>
                      </a:r>
                      <a:endParaRPr b="1"/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2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0.100</a:t>
                      </a:r>
                      <a:endParaRPr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0.995</a:t>
                      </a:r>
                      <a:endParaRPr/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2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0.017</a:t>
                      </a:r>
                      <a:endParaRPr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0.999</a:t>
                      </a:r>
                      <a:endParaRPr/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331" name="Google Shape;331;p44"/>
          <p:cNvGraphicFramePr/>
          <p:nvPr/>
        </p:nvGraphicFramePr>
        <p:xfrm>
          <a:off x="5590425" y="3637050"/>
          <a:ext cx="3054200" cy="79242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527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7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/>
                        <a:t>X1</a:t>
                      </a:r>
                      <a:endParaRPr b="1"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/>
                        <a:t>X2</a:t>
                      </a:r>
                      <a:endParaRPr b="1"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2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0.020</a:t>
                      </a:r>
                      <a:endParaRPr/>
                    </a:p>
                  </a:txBody>
                  <a:tcPr marL="91425" marR="91425" marT="91425" marB="91425" anchor="ctr"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0.999</a:t>
                      </a:r>
                      <a:endParaRPr/>
                    </a:p>
                  </a:txBody>
                  <a:tcPr marL="91425" marR="91425" marT="91425" marB="91425" anchor="ctr"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32" name="Google Shape;332;p44"/>
          <p:cNvSpPr txBox="1"/>
          <p:nvPr/>
        </p:nvSpPr>
        <p:spPr>
          <a:xfrm>
            <a:off x="4126475" y="1478625"/>
            <a:ext cx="1370700" cy="58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norm1 = 30.15</a:t>
            </a:r>
            <a:endParaRPr sz="12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norm2 = 120.02</a:t>
            </a:r>
            <a:endParaRPr sz="1200"/>
          </a:p>
        </p:txBody>
      </p:sp>
      <p:sp>
        <p:nvSpPr>
          <p:cNvPr id="333" name="Google Shape;333;p44"/>
          <p:cNvSpPr txBox="1"/>
          <p:nvPr/>
        </p:nvSpPr>
        <p:spPr>
          <a:xfrm>
            <a:off x="4113213" y="3441100"/>
            <a:ext cx="1370700" cy="37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norm = 100.02 </a:t>
            </a:r>
            <a:endParaRPr sz="120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F8E15C0-11EC-4B4C-89C8-34A26D80888F}"/>
              </a:ext>
            </a:extLst>
          </p:cNvPr>
          <p:cNvSpPr/>
          <p:nvPr/>
        </p:nvSpPr>
        <p:spPr>
          <a:xfrm>
            <a:off x="0" y="4702929"/>
            <a:ext cx="9144000" cy="44340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</a:pPr>
            <a:r>
              <a:rPr lang="en-US" dirty="0">
                <a:solidFill>
                  <a:schemeClr val="bg1"/>
                </a:solidFill>
              </a:rPr>
              <a:t>Data Preprocessing</a:t>
            </a:r>
          </a:p>
        </p:txBody>
      </p:sp>
    </p:spTree>
    <p:extLst>
      <p:ext uri="{BB962C8B-B14F-4D97-AF65-F5344CB8AC3E}">
        <p14:creationId xmlns:p14="http://schemas.microsoft.com/office/powerpoint/2010/main" val="14719178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3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45"/>
          <p:cNvSpPr txBox="1">
            <a:spLocks noGrp="1"/>
          </p:cNvSpPr>
          <p:nvPr>
            <p:ph type="title"/>
          </p:nvPr>
        </p:nvSpPr>
        <p:spPr>
          <a:xfrm>
            <a:off x="457200" y="522685"/>
            <a:ext cx="8229600" cy="801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Preprocessing</a:t>
            </a:r>
            <a:endParaRPr/>
          </a:p>
        </p:txBody>
      </p:sp>
      <p:pic>
        <p:nvPicPr>
          <p:cNvPr id="339" name="Google Shape;339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04575" y="719175"/>
            <a:ext cx="3065300" cy="3929225"/>
          </a:xfrm>
          <a:prstGeom prst="rect">
            <a:avLst/>
          </a:prstGeom>
          <a:noFill/>
          <a:ln>
            <a:noFill/>
          </a:ln>
        </p:spPr>
      </p:pic>
      <p:sp>
        <p:nvSpPr>
          <p:cNvPr id="340" name="Google Shape;340;p45"/>
          <p:cNvSpPr txBox="1"/>
          <p:nvPr/>
        </p:nvSpPr>
        <p:spPr>
          <a:xfrm>
            <a:off x="605800" y="1166973"/>
            <a:ext cx="5015700" cy="343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 dirty="0"/>
              <a:t>Manipulating Data (rows)</a:t>
            </a:r>
            <a:endParaRPr sz="2400" dirty="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 dirty="0"/>
              <a:t>Sampling</a:t>
            </a:r>
            <a:endParaRPr sz="1800" dirty="0"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 dirty="0">
                <a:solidFill>
                  <a:schemeClr val="dk1"/>
                </a:solidFill>
              </a:rPr>
              <a:t>Manipulating Values</a:t>
            </a:r>
            <a:endParaRPr sz="1800" dirty="0">
              <a:solidFill>
                <a:schemeClr val="dk1"/>
              </a:solidFill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" sz="1800" dirty="0">
                <a:solidFill>
                  <a:schemeClr val="dk1"/>
                </a:solidFill>
              </a:rPr>
              <a:t>Discretization</a:t>
            </a:r>
            <a:endParaRPr sz="2400" dirty="0">
              <a:solidFill>
                <a:schemeClr val="dk1"/>
              </a:solidFill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 dirty="0"/>
              <a:t>Normalization</a:t>
            </a:r>
            <a:endParaRPr sz="1800" dirty="0"/>
          </a:p>
          <a:p>
            <a:pPr marL="9144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 dirty="0">
                <a:solidFill>
                  <a:schemeClr val="dk1"/>
                </a:solidFill>
              </a:rPr>
              <a:t>Manipulating Feature (columns)</a:t>
            </a:r>
            <a:endParaRPr sz="2400" dirty="0">
              <a:solidFill>
                <a:schemeClr val="dk1"/>
              </a:solidFill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</a:pPr>
            <a:r>
              <a:rPr lang="en" sz="1800" dirty="0">
                <a:solidFill>
                  <a:schemeClr val="dk2"/>
                </a:solidFill>
              </a:rPr>
              <a:t>Dimensionality Reduction</a:t>
            </a:r>
            <a:endParaRPr sz="1800" dirty="0">
              <a:solidFill>
                <a:schemeClr val="dk2"/>
              </a:solidFill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" sz="1800" dirty="0">
                <a:solidFill>
                  <a:schemeClr val="dk1"/>
                </a:solidFill>
              </a:rPr>
              <a:t>Feature Selection</a:t>
            </a:r>
            <a:endParaRPr sz="1800" dirty="0">
              <a:solidFill>
                <a:schemeClr val="dk1"/>
              </a:solidFill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" sz="1800" dirty="0">
                <a:solidFill>
                  <a:schemeClr val="dk1"/>
                </a:solidFill>
              </a:rPr>
              <a:t>Feature Creation</a:t>
            </a:r>
            <a:endParaRPr sz="18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E0AA443-E2AF-8C47-ED71-C13A878A4408}"/>
              </a:ext>
            </a:extLst>
          </p:cNvPr>
          <p:cNvSpPr/>
          <p:nvPr/>
        </p:nvSpPr>
        <p:spPr>
          <a:xfrm>
            <a:off x="0" y="4702929"/>
            <a:ext cx="9144000" cy="44340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</a:pPr>
            <a:r>
              <a:rPr lang="en-US" dirty="0">
                <a:solidFill>
                  <a:schemeClr val="bg1"/>
                </a:solidFill>
              </a:rPr>
              <a:t>Data Preprocessing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46"/>
          <p:cNvSpPr txBox="1">
            <a:spLocks noGrp="1"/>
          </p:cNvSpPr>
          <p:nvPr>
            <p:ph type="title"/>
          </p:nvPr>
        </p:nvSpPr>
        <p:spPr>
          <a:xfrm>
            <a:off x="457200" y="675075"/>
            <a:ext cx="4412100" cy="801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Curse of Dimensionality</a:t>
            </a:r>
            <a:endParaRPr/>
          </a:p>
        </p:txBody>
      </p:sp>
      <p:sp>
        <p:nvSpPr>
          <p:cNvPr id="346" name="Google Shape;346;p46"/>
          <p:cNvSpPr txBox="1"/>
          <p:nvPr/>
        </p:nvSpPr>
        <p:spPr>
          <a:xfrm>
            <a:off x="457200" y="1693000"/>
            <a:ext cx="4412100" cy="280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When dimensionality increases, data becomes increasingly sparse in the space that it occupies</a:t>
            </a:r>
            <a:endParaRPr sz="1800"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Definitions of density and distance between points, which are critical for clustering and outlier detection, become less meaningful</a:t>
            </a:r>
            <a:endParaRPr sz="1800"/>
          </a:p>
          <a:p>
            <a:pPr marL="9144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pic>
        <p:nvPicPr>
          <p:cNvPr id="347" name="Google Shape;347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69298" y="650675"/>
            <a:ext cx="4158725" cy="40355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9EA74BCD-ABA0-043E-59F4-A010950DA9C6}"/>
              </a:ext>
            </a:extLst>
          </p:cNvPr>
          <p:cNvSpPr/>
          <p:nvPr/>
        </p:nvSpPr>
        <p:spPr>
          <a:xfrm>
            <a:off x="0" y="4702929"/>
            <a:ext cx="9144000" cy="44340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</a:pPr>
            <a:r>
              <a:rPr lang="en-US" dirty="0">
                <a:solidFill>
                  <a:schemeClr val="bg1"/>
                </a:solidFill>
              </a:rPr>
              <a:t>Data Preprocessing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47"/>
          <p:cNvSpPr txBox="1">
            <a:spLocks noGrp="1"/>
          </p:cNvSpPr>
          <p:nvPr>
            <p:ph type="title"/>
          </p:nvPr>
        </p:nvSpPr>
        <p:spPr>
          <a:xfrm>
            <a:off x="457200" y="522685"/>
            <a:ext cx="8229600" cy="801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Dimensionality Reduction</a:t>
            </a:r>
            <a:endParaRPr/>
          </a:p>
        </p:txBody>
      </p:sp>
      <p:sp>
        <p:nvSpPr>
          <p:cNvPr id="353" name="Google Shape;353;p47"/>
          <p:cNvSpPr txBox="1"/>
          <p:nvPr/>
        </p:nvSpPr>
        <p:spPr>
          <a:xfrm>
            <a:off x="457200" y="1323975"/>
            <a:ext cx="8459400" cy="30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 b="1"/>
              <a:t>Purposes</a:t>
            </a:r>
            <a:r>
              <a:rPr lang="en" sz="2400"/>
              <a:t>:</a:t>
            </a:r>
            <a:endParaRPr sz="2400" dirty="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 dirty="0"/>
              <a:t>Avoid curse of dimensionality</a:t>
            </a:r>
            <a:endParaRPr sz="1800" dirty="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 dirty="0"/>
              <a:t>Reduce amount of time and memory required by data mining algorithms</a:t>
            </a:r>
            <a:endParaRPr sz="1800" dirty="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 dirty="0"/>
              <a:t>Allow data to be more easily visualized</a:t>
            </a:r>
            <a:endParaRPr sz="1800" dirty="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 dirty="0"/>
              <a:t>May help to eliminate irrelevant features or reduce noise</a:t>
            </a:r>
            <a:endParaRPr sz="1800" dirty="0"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 b="1" dirty="0"/>
              <a:t>Techniques</a:t>
            </a:r>
            <a:endParaRPr sz="2400" b="1" dirty="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 dirty="0"/>
              <a:t>Principal Components Analysis (PCA)</a:t>
            </a:r>
            <a:endParaRPr sz="1800" dirty="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 dirty="0"/>
              <a:t>Singular Value Decomposition</a:t>
            </a:r>
            <a:endParaRPr sz="1800" dirty="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 dirty="0"/>
              <a:t>Others: supervised and non-linear techniques</a:t>
            </a:r>
            <a:endParaRPr sz="2400" dirty="0"/>
          </a:p>
          <a:p>
            <a:pPr marL="9144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463FA58-C472-8C2E-AE86-7BBB77812D7B}"/>
              </a:ext>
            </a:extLst>
          </p:cNvPr>
          <p:cNvSpPr/>
          <p:nvPr/>
        </p:nvSpPr>
        <p:spPr>
          <a:xfrm>
            <a:off x="0" y="4702929"/>
            <a:ext cx="9144000" cy="44340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</a:pPr>
            <a:r>
              <a:rPr lang="en-US" dirty="0">
                <a:solidFill>
                  <a:schemeClr val="bg1"/>
                </a:solidFill>
              </a:rPr>
              <a:t>Data Preprocessing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60"/>
          <p:cNvSpPr txBox="1">
            <a:spLocks noGrp="1"/>
          </p:cNvSpPr>
          <p:nvPr>
            <p:ph type="title"/>
          </p:nvPr>
        </p:nvSpPr>
        <p:spPr>
          <a:xfrm>
            <a:off x="457200" y="522685"/>
            <a:ext cx="8229600" cy="801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Preprocessing</a:t>
            </a:r>
            <a:endParaRPr/>
          </a:p>
        </p:txBody>
      </p:sp>
      <p:pic>
        <p:nvPicPr>
          <p:cNvPr id="471" name="Google Shape;471;p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04575" y="719175"/>
            <a:ext cx="3065300" cy="3929225"/>
          </a:xfrm>
          <a:prstGeom prst="rect">
            <a:avLst/>
          </a:prstGeom>
          <a:noFill/>
          <a:ln>
            <a:noFill/>
          </a:ln>
        </p:spPr>
      </p:pic>
      <p:sp>
        <p:nvSpPr>
          <p:cNvPr id="472" name="Google Shape;472;p60"/>
          <p:cNvSpPr txBox="1"/>
          <p:nvPr/>
        </p:nvSpPr>
        <p:spPr>
          <a:xfrm>
            <a:off x="329013" y="1097147"/>
            <a:ext cx="5015700" cy="343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 dirty="0"/>
              <a:t>Manipulating Data (rows)</a:t>
            </a:r>
            <a:endParaRPr sz="2400" dirty="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 dirty="0"/>
              <a:t>Sampling</a:t>
            </a:r>
            <a:endParaRPr sz="1800" dirty="0"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 dirty="0">
                <a:solidFill>
                  <a:schemeClr val="dk1"/>
                </a:solidFill>
              </a:rPr>
              <a:t>Manipulating Values</a:t>
            </a:r>
            <a:endParaRPr sz="1800" dirty="0">
              <a:solidFill>
                <a:schemeClr val="dk1"/>
              </a:solidFill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" sz="1800" dirty="0">
                <a:solidFill>
                  <a:schemeClr val="dk1"/>
                </a:solidFill>
              </a:rPr>
              <a:t>Discretization</a:t>
            </a:r>
            <a:endParaRPr sz="2400" dirty="0">
              <a:solidFill>
                <a:schemeClr val="dk1"/>
              </a:solidFill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 dirty="0"/>
              <a:t>Normalization</a:t>
            </a:r>
            <a:endParaRPr sz="1800" dirty="0"/>
          </a:p>
          <a:p>
            <a:pPr marL="9144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 dirty="0">
                <a:solidFill>
                  <a:schemeClr val="dk1"/>
                </a:solidFill>
              </a:rPr>
              <a:t>Manipulating Feature (columns)</a:t>
            </a:r>
            <a:endParaRPr sz="2400" dirty="0">
              <a:solidFill>
                <a:schemeClr val="dk1"/>
              </a:solidFill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" sz="1800" dirty="0">
                <a:solidFill>
                  <a:schemeClr val="dk1"/>
                </a:solidFill>
              </a:rPr>
              <a:t>Dimensionality Reduction</a:t>
            </a:r>
            <a:endParaRPr sz="1800" dirty="0">
              <a:solidFill>
                <a:schemeClr val="dk1"/>
              </a:solidFill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</a:pPr>
            <a:r>
              <a:rPr lang="en" sz="1800" dirty="0">
                <a:solidFill>
                  <a:schemeClr val="dk2"/>
                </a:solidFill>
              </a:rPr>
              <a:t>Feature Selection</a:t>
            </a:r>
            <a:endParaRPr sz="1800" dirty="0">
              <a:solidFill>
                <a:schemeClr val="dk2"/>
              </a:solidFill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" sz="1800" dirty="0">
                <a:solidFill>
                  <a:schemeClr val="dk1"/>
                </a:solidFill>
              </a:rPr>
              <a:t>Feature Creation</a:t>
            </a:r>
            <a:endParaRPr sz="18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6C5D84B-223C-B438-145E-9F570CB89312}"/>
              </a:ext>
            </a:extLst>
          </p:cNvPr>
          <p:cNvSpPr/>
          <p:nvPr/>
        </p:nvSpPr>
        <p:spPr>
          <a:xfrm>
            <a:off x="0" y="4702929"/>
            <a:ext cx="9144000" cy="44340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</a:pPr>
            <a:r>
              <a:rPr lang="en-US" dirty="0">
                <a:solidFill>
                  <a:schemeClr val="bg1"/>
                </a:solidFill>
              </a:rPr>
              <a:t>Data Preprocessing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61"/>
          <p:cNvSpPr txBox="1">
            <a:spLocks noGrp="1"/>
          </p:cNvSpPr>
          <p:nvPr>
            <p:ph type="title"/>
          </p:nvPr>
        </p:nvSpPr>
        <p:spPr>
          <a:xfrm>
            <a:off x="457200" y="675085"/>
            <a:ext cx="8229600" cy="801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Feature Selection</a:t>
            </a:r>
            <a:endParaRPr/>
          </a:p>
        </p:txBody>
      </p:sp>
      <p:sp>
        <p:nvSpPr>
          <p:cNvPr id="478" name="Google Shape;478;p61"/>
          <p:cNvSpPr txBox="1"/>
          <p:nvPr/>
        </p:nvSpPr>
        <p:spPr>
          <a:xfrm>
            <a:off x="351533" y="1185515"/>
            <a:ext cx="8545500" cy="328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 dirty="0">
                <a:solidFill>
                  <a:schemeClr val="dk1"/>
                </a:solidFill>
              </a:rPr>
              <a:t>Another way to reduce dimensionality of data</a:t>
            </a:r>
            <a:endParaRPr sz="2400" dirty="0">
              <a:solidFill>
                <a:schemeClr val="dk1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 dirty="0">
                <a:solidFill>
                  <a:schemeClr val="dk1"/>
                </a:solidFill>
              </a:rPr>
              <a:t>Redundant features (usually unsupervised)</a:t>
            </a:r>
            <a:endParaRPr sz="2400" dirty="0">
              <a:solidFill>
                <a:schemeClr val="dk1"/>
              </a:solidFill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" sz="1800" dirty="0">
                <a:solidFill>
                  <a:schemeClr val="dk1"/>
                </a:solidFill>
              </a:rPr>
              <a:t>Duplicate much or all of the information contained in one or more other </a:t>
            </a:r>
            <a:r>
              <a:rPr lang="en-US" sz="1800" dirty="0">
                <a:solidFill>
                  <a:schemeClr val="dk1"/>
                </a:solidFill>
              </a:rPr>
              <a:t>feature</a:t>
            </a:r>
            <a:r>
              <a:rPr lang="en" sz="1800" dirty="0">
                <a:solidFill>
                  <a:schemeClr val="dk1"/>
                </a:solidFill>
              </a:rPr>
              <a:t>s</a:t>
            </a:r>
            <a:endParaRPr sz="1800" dirty="0">
              <a:solidFill>
                <a:schemeClr val="dk1"/>
              </a:solidFill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" sz="1800" dirty="0">
                <a:solidFill>
                  <a:schemeClr val="dk1"/>
                </a:solidFill>
              </a:rPr>
              <a:t>E.g. purchase price of a product and the amount of sales tax paid</a:t>
            </a:r>
            <a:endParaRPr sz="1800" dirty="0">
              <a:solidFill>
                <a:schemeClr val="dk1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 dirty="0">
                <a:solidFill>
                  <a:schemeClr val="dk1"/>
                </a:solidFill>
              </a:rPr>
              <a:t>Irrelevant features (usually supervised)</a:t>
            </a:r>
            <a:endParaRPr sz="2400" dirty="0">
              <a:solidFill>
                <a:schemeClr val="dk1"/>
              </a:solidFill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" sz="1800" dirty="0">
                <a:solidFill>
                  <a:schemeClr val="dk1"/>
                </a:solidFill>
              </a:rPr>
              <a:t>Contain no information that is useful for the data mining task at hand</a:t>
            </a:r>
            <a:endParaRPr sz="1800" dirty="0">
              <a:solidFill>
                <a:schemeClr val="dk1"/>
              </a:solidFill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" sz="1800" dirty="0">
                <a:solidFill>
                  <a:schemeClr val="dk1"/>
                </a:solidFill>
              </a:rPr>
              <a:t>E.g. students' ID is often irrelevant to the task of predicting students' GPA</a:t>
            </a:r>
            <a:endParaRPr lang="en-US" sz="1800" dirty="0">
              <a:solidFill>
                <a:schemeClr val="dk1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2400" dirty="0">
              <a:solidFill>
                <a:schemeClr val="dk1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 dirty="0">
                <a:solidFill>
                  <a:schemeClr val="dk1"/>
                </a:solidFill>
              </a:rPr>
              <a:t>Correlation matrix</a:t>
            </a:r>
            <a:endParaRPr sz="1800" dirty="0">
              <a:solidFill>
                <a:schemeClr val="dk1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412C9F7-DFAF-6350-8EDF-BAC542F8EA2E}"/>
              </a:ext>
            </a:extLst>
          </p:cNvPr>
          <p:cNvSpPr/>
          <p:nvPr/>
        </p:nvSpPr>
        <p:spPr>
          <a:xfrm>
            <a:off x="0" y="4702929"/>
            <a:ext cx="9144000" cy="44340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</a:pPr>
            <a:r>
              <a:rPr lang="en-US" dirty="0">
                <a:solidFill>
                  <a:schemeClr val="bg1"/>
                </a:solidFill>
              </a:rPr>
              <a:t>Data Preprocessing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62"/>
          <p:cNvSpPr txBox="1">
            <a:spLocks noGrp="1"/>
          </p:cNvSpPr>
          <p:nvPr>
            <p:ph type="title"/>
          </p:nvPr>
        </p:nvSpPr>
        <p:spPr>
          <a:xfrm>
            <a:off x="457200" y="522685"/>
            <a:ext cx="8229600" cy="801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Preprocessing</a:t>
            </a:r>
            <a:endParaRPr/>
          </a:p>
        </p:txBody>
      </p:sp>
      <p:pic>
        <p:nvPicPr>
          <p:cNvPr id="484" name="Google Shape;484;p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04575" y="719175"/>
            <a:ext cx="3065300" cy="3929225"/>
          </a:xfrm>
          <a:prstGeom prst="rect">
            <a:avLst/>
          </a:prstGeom>
          <a:noFill/>
          <a:ln>
            <a:noFill/>
          </a:ln>
        </p:spPr>
      </p:pic>
      <p:sp>
        <p:nvSpPr>
          <p:cNvPr id="485" name="Google Shape;485;p62"/>
          <p:cNvSpPr txBox="1"/>
          <p:nvPr/>
        </p:nvSpPr>
        <p:spPr>
          <a:xfrm>
            <a:off x="385720" y="1181874"/>
            <a:ext cx="5015700" cy="343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 dirty="0"/>
              <a:t>Manipulating Data (rows)</a:t>
            </a:r>
            <a:endParaRPr sz="2400" dirty="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 dirty="0"/>
              <a:t>Sampling</a:t>
            </a:r>
            <a:endParaRPr sz="1800" dirty="0"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 dirty="0">
                <a:solidFill>
                  <a:schemeClr val="dk1"/>
                </a:solidFill>
              </a:rPr>
              <a:t>Manipulating Values</a:t>
            </a:r>
            <a:endParaRPr sz="1800" dirty="0">
              <a:solidFill>
                <a:schemeClr val="dk1"/>
              </a:solidFill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" sz="1800" dirty="0">
                <a:solidFill>
                  <a:schemeClr val="dk1"/>
                </a:solidFill>
              </a:rPr>
              <a:t>Discretization</a:t>
            </a:r>
            <a:endParaRPr sz="2400" dirty="0">
              <a:solidFill>
                <a:schemeClr val="dk1"/>
              </a:solidFill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 dirty="0"/>
              <a:t>Normalization</a:t>
            </a:r>
            <a:endParaRPr sz="1800" dirty="0"/>
          </a:p>
          <a:p>
            <a:pPr marL="9144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 dirty="0">
                <a:solidFill>
                  <a:schemeClr val="dk1"/>
                </a:solidFill>
              </a:rPr>
              <a:t>Manipulating Feature (columns)</a:t>
            </a:r>
            <a:endParaRPr sz="2400" dirty="0">
              <a:solidFill>
                <a:schemeClr val="dk1"/>
              </a:solidFill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" sz="1800" dirty="0">
                <a:solidFill>
                  <a:schemeClr val="dk1"/>
                </a:solidFill>
              </a:rPr>
              <a:t>Dimensionality Reduction</a:t>
            </a:r>
            <a:endParaRPr sz="1800" dirty="0">
              <a:solidFill>
                <a:schemeClr val="dk1"/>
              </a:solidFill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" sz="1800" dirty="0">
                <a:solidFill>
                  <a:schemeClr val="dk1"/>
                </a:solidFill>
              </a:rPr>
              <a:t>Feature Selection</a:t>
            </a:r>
            <a:endParaRPr sz="1800" dirty="0">
              <a:solidFill>
                <a:schemeClr val="dk1"/>
              </a:solidFill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</a:pPr>
            <a:r>
              <a:rPr lang="en" sz="1800" dirty="0">
                <a:solidFill>
                  <a:schemeClr val="dk2"/>
                </a:solidFill>
              </a:rPr>
              <a:t>Feature Creation</a:t>
            </a:r>
            <a:endParaRPr sz="1800" dirty="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0C64E3E-F90D-7444-D1D2-B6C0BFD68BCD}"/>
              </a:ext>
            </a:extLst>
          </p:cNvPr>
          <p:cNvSpPr/>
          <p:nvPr/>
        </p:nvSpPr>
        <p:spPr>
          <a:xfrm>
            <a:off x="0" y="4761375"/>
            <a:ext cx="9144000" cy="38496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</a:pPr>
            <a:r>
              <a:rPr lang="en-US" dirty="0">
                <a:solidFill>
                  <a:schemeClr val="bg1"/>
                </a:solidFill>
              </a:rPr>
              <a:t>Data Preprocessing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63"/>
          <p:cNvSpPr txBox="1">
            <a:spLocks noGrp="1"/>
          </p:cNvSpPr>
          <p:nvPr>
            <p:ph type="title"/>
          </p:nvPr>
        </p:nvSpPr>
        <p:spPr>
          <a:xfrm>
            <a:off x="457200" y="675085"/>
            <a:ext cx="8229600" cy="801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Feature Creation </a:t>
            </a:r>
            <a:r>
              <a:rPr lang="en">
                <a:solidFill>
                  <a:schemeClr val="dk2"/>
                </a:solidFill>
              </a:rPr>
              <a:t>(unsupervised)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491" name="Google Shape;491;p63"/>
          <p:cNvSpPr txBox="1"/>
          <p:nvPr/>
        </p:nvSpPr>
        <p:spPr>
          <a:xfrm>
            <a:off x="386975" y="1305000"/>
            <a:ext cx="8545500" cy="346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 dirty="0">
                <a:solidFill>
                  <a:schemeClr val="dk1"/>
                </a:solidFill>
              </a:rPr>
              <a:t>Create new </a:t>
            </a:r>
            <a:r>
              <a:rPr lang="en-US" sz="2400" dirty="0">
                <a:solidFill>
                  <a:schemeClr val="dk1"/>
                </a:solidFill>
              </a:rPr>
              <a:t>feature</a:t>
            </a:r>
            <a:r>
              <a:rPr lang="en" sz="2400" dirty="0">
                <a:solidFill>
                  <a:schemeClr val="dk1"/>
                </a:solidFill>
              </a:rPr>
              <a:t>s that can capture the important information in a data set much more efficiently than the original </a:t>
            </a:r>
            <a:r>
              <a:rPr lang="en-US" sz="2400" dirty="0">
                <a:solidFill>
                  <a:schemeClr val="dk1"/>
                </a:solidFill>
              </a:rPr>
              <a:t>feature</a:t>
            </a:r>
            <a:r>
              <a:rPr lang="en" sz="2400" dirty="0">
                <a:solidFill>
                  <a:schemeClr val="dk1"/>
                </a:solidFill>
              </a:rPr>
              <a:t>s</a:t>
            </a:r>
            <a:endParaRPr sz="2400" dirty="0">
              <a:solidFill>
                <a:schemeClr val="dk1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 dirty="0">
                <a:solidFill>
                  <a:schemeClr val="dk1"/>
                </a:solidFill>
              </a:rPr>
              <a:t>Three general methodologies:</a:t>
            </a:r>
            <a:endParaRPr sz="2400" dirty="0">
              <a:solidFill>
                <a:schemeClr val="dk1"/>
              </a:solidFill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" sz="1800" dirty="0">
                <a:solidFill>
                  <a:schemeClr val="dk1"/>
                </a:solidFill>
              </a:rPr>
              <a:t>Feature extraction</a:t>
            </a:r>
            <a:endParaRPr sz="1800" dirty="0">
              <a:solidFill>
                <a:schemeClr val="dk1"/>
              </a:solidFill>
            </a:endParaRPr>
          </a:p>
          <a:p>
            <a:pPr marL="1371600" lvl="2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</a:pPr>
            <a:r>
              <a:rPr lang="en" dirty="0">
                <a:solidFill>
                  <a:schemeClr val="dk1"/>
                </a:solidFill>
              </a:rPr>
              <a:t>Example: extracting edges from images</a:t>
            </a:r>
            <a:endParaRPr dirty="0">
              <a:solidFill>
                <a:schemeClr val="dk1"/>
              </a:solidFill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" sz="1800" dirty="0">
                <a:solidFill>
                  <a:schemeClr val="dk1"/>
                </a:solidFill>
              </a:rPr>
              <a:t>Feature construction</a:t>
            </a:r>
            <a:endParaRPr sz="1800" dirty="0">
              <a:solidFill>
                <a:schemeClr val="dk1"/>
              </a:solidFill>
            </a:endParaRPr>
          </a:p>
          <a:p>
            <a:pPr marL="1371600" lvl="2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</a:pPr>
            <a:r>
              <a:rPr lang="en" dirty="0">
                <a:solidFill>
                  <a:schemeClr val="dk1"/>
                </a:solidFill>
              </a:rPr>
              <a:t>Example: dividing mass by volume to get density </a:t>
            </a:r>
            <a:endParaRPr dirty="0">
              <a:solidFill>
                <a:schemeClr val="dk1"/>
              </a:solidFill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" sz="1800" dirty="0">
                <a:solidFill>
                  <a:schemeClr val="dk1"/>
                </a:solidFill>
              </a:rPr>
              <a:t>Mapping data to new space</a:t>
            </a:r>
            <a:endParaRPr sz="1800" dirty="0">
              <a:solidFill>
                <a:schemeClr val="dk1"/>
              </a:solidFill>
            </a:endParaRPr>
          </a:p>
          <a:p>
            <a:pPr marL="1371600" lvl="2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</a:pPr>
            <a:r>
              <a:rPr lang="en" dirty="0">
                <a:solidFill>
                  <a:schemeClr val="dk1"/>
                </a:solidFill>
              </a:rPr>
              <a:t>Example: Fourier transform, kernel trick in SVM </a:t>
            </a:r>
            <a:endParaRPr dirty="0">
              <a:solidFill>
                <a:schemeClr val="dk1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6858EC3-4B7B-6D61-B01D-F140EFEE8BD2}"/>
              </a:ext>
            </a:extLst>
          </p:cNvPr>
          <p:cNvSpPr/>
          <p:nvPr/>
        </p:nvSpPr>
        <p:spPr>
          <a:xfrm>
            <a:off x="0" y="4702929"/>
            <a:ext cx="9144000" cy="44340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</a:pPr>
            <a:r>
              <a:rPr lang="en-US" dirty="0">
                <a:solidFill>
                  <a:schemeClr val="bg1"/>
                </a:solidFill>
              </a:rPr>
              <a:t>Data Preprocessing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6" name="Google Shape;496;p6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44571" y="843921"/>
            <a:ext cx="6665726" cy="3905325"/>
          </a:xfrm>
          <a:prstGeom prst="rect">
            <a:avLst/>
          </a:prstGeom>
          <a:noFill/>
          <a:ln>
            <a:noFill/>
          </a:ln>
        </p:spPr>
      </p:pic>
      <p:sp>
        <p:nvSpPr>
          <p:cNvPr id="497" name="Google Shape;497;p64"/>
          <p:cNvSpPr txBox="1">
            <a:spLocks noGrp="1"/>
          </p:cNvSpPr>
          <p:nvPr>
            <p:ph type="title"/>
          </p:nvPr>
        </p:nvSpPr>
        <p:spPr>
          <a:xfrm>
            <a:off x="457200" y="675085"/>
            <a:ext cx="8229600" cy="801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Fourier Transform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1322ECE-D4C0-5814-2CBC-76240A68D26E}"/>
              </a:ext>
            </a:extLst>
          </p:cNvPr>
          <p:cNvSpPr/>
          <p:nvPr/>
        </p:nvSpPr>
        <p:spPr>
          <a:xfrm>
            <a:off x="0" y="4702929"/>
            <a:ext cx="9144000" cy="44340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</a:pPr>
            <a:r>
              <a:rPr lang="en-US" dirty="0">
                <a:solidFill>
                  <a:schemeClr val="bg1"/>
                </a:solidFill>
              </a:rPr>
              <a:t>Data Preprocessing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65"/>
          <p:cNvSpPr txBox="1">
            <a:spLocks noGrp="1"/>
          </p:cNvSpPr>
          <p:nvPr>
            <p:ph type="title"/>
          </p:nvPr>
        </p:nvSpPr>
        <p:spPr>
          <a:xfrm>
            <a:off x="457188" y="499235"/>
            <a:ext cx="8229600" cy="801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Assignment 2</a:t>
            </a:r>
            <a:endParaRPr/>
          </a:p>
        </p:txBody>
      </p:sp>
      <p:sp>
        <p:nvSpPr>
          <p:cNvPr id="503" name="Google Shape;503;p65"/>
          <p:cNvSpPr txBox="1"/>
          <p:nvPr/>
        </p:nvSpPr>
        <p:spPr>
          <a:xfrm>
            <a:off x="763550" y="2225100"/>
            <a:ext cx="7749900" cy="99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 err="1"/>
              <a:t>Github</a:t>
            </a:r>
            <a:r>
              <a:rPr lang="en-US" sz="2400" dirty="0"/>
              <a:t>!!!</a:t>
            </a:r>
            <a:endParaRPr sz="2400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BCCBC07-3436-F07D-C2CF-7655DBAC7A57}"/>
              </a:ext>
            </a:extLst>
          </p:cNvPr>
          <p:cNvSpPr/>
          <p:nvPr/>
        </p:nvSpPr>
        <p:spPr>
          <a:xfrm>
            <a:off x="0" y="4702929"/>
            <a:ext cx="9144000" cy="44340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</a:pPr>
            <a:r>
              <a:rPr lang="en-US" dirty="0">
                <a:solidFill>
                  <a:schemeClr val="bg1"/>
                </a:solidFill>
              </a:rPr>
              <a:t>Data Preprocessing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IT">
  <a:themeElements>
    <a:clrScheme name="RIT">
      <a:dk1>
        <a:srgbClr val="000000"/>
      </a:dk1>
      <a:lt1>
        <a:srgbClr val="FFFFFF"/>
      </a:lt1>
      <a:dk2>
        <a:srgbClr val="E36102"/>
      </a:dk2>
      <a:lt2>
        <a:srgbClr val="EEEEEE"/>
      </a:lt2>
      <a:accent1>
        <a:srgbClr val="83BD00"/>
      </a:accent1>
      <a:accent2>
        <a:srgbClr val="C3D600"/>
      </a:accent2>
      <a:accent3>
        <a:srgbClr val="009CBD"/>
      </a:accent3>
      <a:accent4>
        <a:srgbClr val="7D55C7"/>
      </a:accent4>
      <a:accent5>
        <a:srgbClr val="DA281C"/>
      </a:accent5>
      <a:accent6>
        <a:srgbClr val="F6BE00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145</TotalTime>
  <Words>2225</Words>
  <Application>Microsoft Office PowerPoint</Application>
  <PresentationFormat>On-screen Show (16:9)</PresentationFormat>
  <Paragraphs>400</Paragraphs>
  <Slides>37</Slides>
  <Notes>37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4" baseType="lpstr">
      <vt:lpstr>MS Gothic</vt:lpstr>
      <vt:lpstr>Arial</vt:lpstr>
      <vt:lpstr>Calibri</vt:lpstr>
      <vt:lpstr>Georgia</vt:lpstr>
      <vt:lpstr>Noto Sans Symbols</vt:lpstr>
      <vt:lpstr>NTR</vt:lpstr>
      <vt:lpstr>RIT</vt:lpstr>
      <vt:lpstr>Foundations of Data Science &amp; Analytics: Preprocessing</vt:lpstr>
      <vt:lpstr>Data Mining / Machine Learning Pipeline</vt:lpstr>
      <vt:lpstr>Preprocessing</vt:lpstr>
      <vt:lpstr>Preprocessing</vt:lpstr>
      <vt:lpstr>Preprocessing</vt:lpstr>
      <vt:lpstr>Preprocessing</vt:lpstr>
      <vt:lpstr>Preprocessing</vt:lpstr>
      <vt:lpstr>Sampling</vt:lpstr>
      <vt:lpstr>Reducing Size of Data</vt:lpstr>
      <vt:lpstr>Stratified sampling</vt:lpstr>
      <vt:lpstr>Example</vt:lpstr>
      <vt:lpstr>Preprocessing</vt:lpstr>
      <vt:lpstr>Discretization</vt:lpstr>
      <vt:lpstr>Types of features</vt:lpstr>
      <vt:lpstr>Types of features</vt:lpstr>
      <vt:lpstr>Discretization</vt:lpstr>
      <vt:lpstr>Unsupervised Discretization</vt:lpstr>
      <vt:lpstr>Unsupervised Discretization</vt:lpstr>
      <vt:lpstr>Unsupervised Discretization</vt:lpstr>
      <vt:lpstr>Unsupervised Discretization</vt:lpstr>
      <vt:lpstr>Supervised Discretization</vt:lpstr>
      <vt:lpstr>Preprocessing</vt:lpstr>
      <vt:lpstr>Normalization</vt:lpstr>
      <vt:lpstr>Why Normalize?</vt:lpstr>
      <vt:lpstr>Normalization</vt:lpstr>
      <vt:lpstr>Normalization</vt:lpstr>
      <vt:lpstr>L2 Normalization on Columns</vt:lpstr>
      <vt:lpstr>L2 Normalization on Rows</vt:lpstr>
      <vt:lpstr>Preprocessing</vt:lpstr>
      <vt:lpstr>Curse of Dimensionality</vt:lpstr>
      <vt:lpstr>Dimensionality Reduction</vt:lpstr>
      <vt:lpstr>Preprocessing</vt:lpstr>
      <vt:lpstr>Feature Selection</vt:lpstr>
      <vt:lpstr>Preprocessing</vt:lpstr>
      <vt:lpstr>Feature Creation (unsupervised)</vt:lpstr>
      <vt:lpstr>Fourier Transform</vt:lpstr>
      <vt:lpstr>Assignment 2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Foundations of Data Science &amp; Analytics: Preprocessing</dc:title>
  <cp:lastModifiedBy>EZGI SIIR KIBRIS</cp:lastModifiedBy>
  <cp:revision>20</cp:revision>
  <dcterms:modified xsi:type="dcterms:W3CDTF">2024-09-14T00:26:48Z</dcterms:modified>
</cp:coreProperties>
</file>